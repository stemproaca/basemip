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2" r:id="rId4"/>
    <p:sldId id="315" r:id="rId5"/>
    <p:sldId id="316" r:id="rId6"/>
    <p:sldId id="313" r:id="rId7"/>
    <p:sldId id="317" r:id="rId8"/>
    <p:sldId id="31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3E1F2-78A4-3B13-AB95-7F308AAC2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9E8D13-F41A-CAAB-CEF2-B79CEFD6D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53132-E22E-D5BF-1C16-8E4980E6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59FE3-16D7-52FF-C472-EE2065755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39434-558B-3A1C-AE43-2C6343D4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637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7236F-2AC6-C12D-5D39-E522A6B9E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8E49D-6EBF-29AB-4390-03B8AB805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36906-F511-1C31-3A1C-0F1E54310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81E70-BE46-DF02-B7EE-3C60B1D2E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D5001-61BA-A93F-9437-AAE45C87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487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502C7-0520-A6CE-5A62-9BB531628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26CF6-1DC9-2128-B5FC-4A79F933D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EC251-F4B6-C849-532B-0B04C066B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5B787-2E21-332E-B535-83AF64D2E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ACB9F-CE02-D187-0D37-7DF140340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2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9E31A-F617-CC8E-543A-8C177A1B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8BA6D-560A-E467-66A7-3E74FFA7FD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67FA88-C53C-6783-5933-C580146D6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02EFE-E890-F30A-829C-CFF5F0912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A3017-8A38-5A21-927F-8116892A2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D48BE-44D2-6C93-3C00-69AE1707B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65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A787F-3DD8-D819-E1B5-1E7F584FD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3F4DE-91C5-1863-D4BF-6DE492C53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193A2-8269-10FB-A656-2BBF92FB1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FBC43-FF9B-72C0-EB11-DFB3B706E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4ED75F-DD95-9307-DD64-4078835952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1219C7-8137-D431-4FB8-A78739FD1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FA7F1A-D932-5D82-F902-9BA71A0D8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D025AA-F95A-87A7-AE3B-D9A54029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2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B163-E0DB-5DB0-E851-69DC566C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DB2AB2-75A8-1BBF-06EC-52129DDBB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7D158F-2A15-E787-4064-6B2CB0BF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0F1C06-E8C0-E44D-66D2-BA8370F8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92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2B674A-7561-BBE4-BBFD-CF30CAE72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D0B8AE-AC3E-A349-1454-FDBC9A87A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82CF5-862B-DCDD-5513-C9A933FD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9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B409D-4130-2E03-F0B9-AAFD1BF9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8E6CA-3A66-868C-E320-FF6CBABCF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8321D-A975-A884-6209-FC1F20455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80FFC-3EA6-A873-0FC9-5BE3E0D7B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E94A9-5AE4-66D8-D2D2-794091955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C1DAB-57A1-028B-2D5F-E97197522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128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A8CE-0FCB-AC31-589D-6B8B4793C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4AE7A3-AD5F-92A6-9C69-638927DC9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E7725A-F0B7-23F5-57EE-C80F5E364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0058F-41D4-AF41-E6A2-E998CFD1E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E63E8-A689-1C8C-7685-11665081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CD9FF-C3FA-8767-900E-31E36F50D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94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72ACE-EFF8-AF3B-D87C-1CBB9DB55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C948B-5FF3-FC3E-B005-1EA559096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6E1A2-A406-8045-ACBA-0F5F72EC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344AA-599D-B591-CCF9-F5C7B7550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287FD-BE21-21AA-6789-0FDDC875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82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CD68B-E022-8BB0-786A-C8B7F9EB6B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9E1AD-009A-9A78-67CD-D7B874264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E2BEF-8CBC-8DBA-8FCB-199F6E6DD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D9BB-00BF-1610-2A20-154066C53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81725-EEBF-C916-3A1B-1CFE4AD24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23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1750D-D8EB-6F7D-C3EE-2D20ADF43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0BC56-7617-F598-24E3-74BA7B95E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D0FD3-221E-F7B7-93E0-3B66B85F20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2E7BD-C1BB-46F1-B277-8AE99D5C93A3}" type="datetimeFigureOut">
              <a:rPr lang="en-US" smtClean="0"/>
              <a:t>7/2/2022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35B70-3517-88AD-0228-5E5448AB9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1F37A-8A7F-CAB0-FCD4-834AEF981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93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1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2"/>
            <a:ext cx="12192000" cy="4290465"/>
          </a:xfrm>
        </p:spPr>
        <p:txBody>
          <a:bodyPr>
            <a:normAutofit/>
          </a:bodyPr>
          <a:lstStyle/>
          <a:p>
            <a:r>
              <a:rPr lang="en-US" altLang="zh-CN" b="1" dirty="0"/>
              <a:t>Cross Lesson Materials: </a:t>
            </a:r>
            <a:br>
              <a:rPr lang="en-US" altLang="zh-CN" b="1" dirty="0"/>
            </a:br>
            <a:r>
              <a:rPr lang="en-US" altLang="zh-CN" b="1" dirty="0"/>
              <a:t>git</a:t>
            </a:r>
            <a:br>
              <a:rPr lang="en-US" altLang="zh-CN" b="1" dirty="0"/>
            </a:br>
            <a:r>
              <a:rPr lang="en-US" altLang="zh-CN" b="1" dirty="0"/>
              <a:t>and </a:t>
            </a:r>
            <a:r>
              <a:rPr lang="en-US" altLang="zh-CN" b="1" dirty="0" err="1"/>
              <a:t>envs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FC9BB-9DB2-095C-1565-78DB9BCA5227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564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81232"/>
            <a:ext cx="12192000" cy="674906"/>
          </a:xfrm>
        </p:spPr>
        <p:txBody>
          <a:bodyPr anchor="t">
            <a:noAutofit/>
          </a:bodyPr>
          <a:lstStyle/>
          <a:p>
            <a:pPr algn="l"/>
            <a:r>
              <a:rPr lang="en-US" sz="4000" b="1" dirty="0"/>
              <a:t>Git Bash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FDAF25-4F64-C2A0-A106-4381115189AD}"/>
              </a:ext>
            </a:extLst>
          </p:cNvPr>
          <p:cNvSpPr txBox="1"/>
          <p:nvPr/>
        </p:nvSpPr>
        <p:spPr>
          <a:xfrm>
            <a:off x="990601" y="1632873"/>
            <a:ext cx="100242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Roboto" panose="02000000000000000000" pitchFamily="2" charset="0"/>
              </a:rPr>
              <a:t>Git Bash is an application for Microsoft Windows environments which provides an emulation layer for a Git command line experience. Bash is an acronym for </a:t>
            </a:r>
            <a:r>
              <a:rPr lang="en-US" b="0" i="0" dirty="0" err="1">
                <a:solidFill>
                  <a:srgbClr val="444444"/>
                </a:solidFill>
                <a:effectLst/>
                <a:latin typeface="Roboto" panose="02000000000000000000" pitchFamily="2" charset="0"/>
              </a:rPr>
              <a:t>Bourne</a:t>
            </a:r>
            <a:r>
              <a:rPr lang="en-US" b="0" i="0" dirty="0">
                <a:solidFill>
                  <a:srgbClr val="444444"/>
                </a:solidFill>
                <a:effectLst/>
                <a:latin typeface="Roboto" panose="02000000000000000000" pitchFamily="2" charset="0"/>
              </a:rPr>
              <a:t> Again Shell. A shell is a terminal application used to interface with an operating system through written commands. Bash is a popular default shell on Linux and macOS.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330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026" name="Picture 2" descr="Image result for git">
            <a:extLst>
              <a:ext uri="{FF2B5EF4-FFF2-40B4-BE49-F238E27FC236}">
                <a16:creationId xmlns:a16="http://schemas.microsoft.com/office/drawing/2014/main" id="{927DEC41-84B0-5AA9-7142-9003FB181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3134" y="1726072"/>
            <a:ext cx="1535266" cy="1763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89A7B94-46E5-4EAA-F182-C3C7032F8807}"/>
              </a:ext>
            </a:extLst>
          </p:cNvPr>
          <p:cNvSpPr txBox="1"/>
          <p:nvPr/>
        </p:nvSpPr>
        <p:spPr>
          <a:xfrm>
            <a:off x="1103586" y="585978"/>
            <a:ext cx="102896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Git is an </a:t>
            </a:r>
            <a:r>
              <a:rPr lang="en-US" sz="3200" b="1" i="0" dirty="0">
                <a:effectLst/>
                <a:latin typeface="Lato" panose="020F0502020204030203" pitchFamily="34" charset="0"/>
              </a:rPr>
              <a:t>Open Source </a:t>
            </a:r>
            <a:r>
              <a:rPr lang="en-US" sz="2800" b="1" i="0" dirty="0">
                <a:solidFill>
                  <a:srgbClr val="00B050"/>
                </a:solidFill>
                <a:effectLst/>
                <a:latin typeface="Lato" panose="020F0502020204030203" pitchFamily="34" charset="0"/>
              </a:rPr>
              <a:t>Distributed</a:t>
            </a:r>
            <a:r>
              <a:rPr lang="en-US" sz="2800" i="0" dirty="0">
                <a:effectLst/>
                <a:latin typeface="Lato" panose="020F0502020204030203" pitchFamily="34" charset="0"/>
              </a:rPr>
              <a:t> </a:t>
            </a:r>
            <a:r>
              <a:rPr lang="en-US" sz="2800" b="1" i="0" dirty="0">
                <a:solidFill>
                  <a:srgbClr val="C00000"/>
                </a:solidFill>
                <a:effectLst/>
                <a:latin typeface="Lato" panose="020F0502020204030203" pitchFamily="34" charset="0"/>
              </a:rPr>
              <a:t>Version Control </a:t>
            </a:r>
            <a:r>
              <a:rPr lang="en-US" sz="2800" i="0" dirty="0">
                <a:effectLst/>
                <a:latin typeface="Lato" panose="020F0502020204030203" pitchFamily="34" charset="0"/>
              </a:rPr>
              <a:t>System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487799-CBA6-0C8F-C3AC-CC68075EABFD}"/>
              </a:ext>
            </a:extLst>
          </p:cNvPr>
          <p:cNvSpPr txBox="1"/>
          <p:nvPr/>
        </p:nvSpPr>
        <p:spPr>
          <a:xfrm>
            <a:off x="2638095" y="3751024"/>
            <a:ext cx="77566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What is version? Change and time. </a:t>
            </a:r>
          </a:p>
          <a:p>
            <a:r>
              <a:rPr lang="en-US" b="1" dirty="0">
                <a:solidFill>
                  <a:srgbClr val="0A0A23"/>
                </a:solidFill>
                <a:latin typeface="Lato" panose="020F0502020204030203" pitchFamily="34" charset="0"/>
              </a:rPr>
              <a:t>What is Open Source? Anyone(yes) can inspect, modify and enhance</a:t>
            </a:r>
          </a:p>
          <a:p>
            <a:r>
              <a:rPr lang="en-US" b="1" dirty="0">
                <a:solidFill>
                  <a:srgbClr val="0A0A23"/>
                </a:solidFill>
                <a:latin typeface="Lato" panose="020F0502020204030203" pitchFamily="34" charset="0"/>
              </a:rPr>
              <a:t>What is Distributed?  -- Spread over</a:t>
            </a:r>
            <a:endParaRPr lang="en-US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9B68E7-360B-F3B7-0809-A497A2F82DD3}"/>
              </a:ext>
            </a:extLst>
          </p:cNvPr>
          <p:cNvSpPr txBox="1"/>
          <p:nvPr/>
        </p:nvSpPr>
        <p:spPr>
          <a:xfrm>
            <a:off x="2186152" y="542785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Lato" panose="020F0502020204030203" pitchFamily="34" charset="0"/>
              </a:rPr>
              <a:t>To make</a:t>
            </a:r>
            <a:r>
              <a:rPr lang="zh-CN" altLang="en-US" sz="2400" b="1" dirty="0">
                <a:latin typeface="Lato" panose="020F0502020204030203" pitchFamily="34" charset="0"/>
              </a:rPr>
              <a:t> </a:t>
            </a:r>
            <a:r>
              <a:rPr lang="en-US" altLang="zh-CN" sz="2400" b="1" dirty="0">
                <a:latin typeface="Lato" panose="020F0502020204030203" pitchFamily="34" charset="0"/>
              </a:rPr>
              <a:t>use</a:t>
            </a:r>
            <a:r>
              <a:rPr lang="zh-CN" altLang="en-US" sz="2400" b="1" dirty="0">
                <a:latin typeface="Lato" panose="020F0502020204030203" pitchFamily="34" charset="0"/>
              </a:rPr>
              <a:t> </a:t>
            </a:r>
            <a:r>
              <a:rPr lang="en-US" altLang="zh-CN" sz="2400" b="1" dirty="0">
                <a:latin typeface="Lato" panose="020F0502020204030203" pitchFamily="34" charset="0"/>
              </a:rPr>
              <a:t>of</a:t>
            </a:r>
            <a:r>
              <a:rPr lang="zh-CN" altLang="en-US" sz="2400" b="1" dirty="0">
                <a:latin typeface="Lato" panose="020F0502020204030203" pitchFamily="34" charset="0"/>
              </a:rPr>
              <a:t> </a:t>
            </a:r>
            <a:r>
              <a:rPr lang="en-US" altLang="zh-CN" sz="2400" b="1" dirty="0">
                <a:latin typeface="Lato" panose="020F0502020204030203" pitchFamily="34" charset="0"/>
              </a:rPr>
              <a:t>this</a:t>
            </a:r>
            <a:r>
              <a:rPr lang="zh-CN" altLang="en-US" sz="2400" b="1" dirty="0">
                <a:latin typeface="Lato" panose="020F0502020204030203" pitchFamily="34" charset="0"/>
              </a:rPr>
              <a:t> </a:t>
            </a:r>
            <a:r>
              <a:rPr lang="en-US" altLang="zh-CN" sz="2400" b="1" dirty="0">
                <a:latin typeface="Lato" panose="020F0502020204030203" pitchFamily="34" charset="0"/>
              </a:rPr>
              <a:t>tool</a:t>
            </a:r>
            <a:r>
              <a:rPr lang="en-US" sz="2400" b="1" i="0" dirty="0">
                <a:effectLst/>
                <a:latin typeface="Lato" panose="020F0502020204030203" pitchFamily="34" charset="0"/>
              </a:rPr>
              <a:t>: Command Line  </a:t>
            </a:r>
          </a:p>
        </p:txBody>
      </p:sp>
    </p:spTree>
    <p:extLst>
      <p:ext uri="{BB962C8B-B14F-4D97-AF65-F5344CB8AC3E}">
        <p14:creationId xmlns:p14="http://schemas.microsoft.com/office/powerpoint/2010/main" val="339219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FDDE036-0944-D0C5-5EBE-E170CAB13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64" y="2953713"/>
            <a:ext cx="3734898" cy="15744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23F738-CE2D-9E5A-61F8-98A373812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2337" y="369332"/>
            <a:ext cx="1574417" cy="1574417"/>
          </a:xfrm>
          <a:prstGeom prst="rect">
            <a:avLst/>
          </a:prstGeom>
        </p:spPr>
      </p:pic>
      <p:pic>
        <p:nvPicPr>
          <p:cNvPr id="1030" name="Picture 6" descr="Using git commands on Windows">
            <a:extLst>
              <a:ext uri="{FF2B5EF4-FFF2-40B4-BE49-F238E27FC236}">
                <a16:creationId xmlns:a16="http://schemas.microsoft.com/office/drawing/2014/main" id="{6959E194-3D75-5B28-6A9E-B9779E714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2729" y="2877474"/>
            <a:ext cx="1345321" cy="1345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0444" y="3319436"/>
            <a:ext cx="2186152" cy="674906"/>
          </a:xfrm>
        </p:spPr>
        <p:txBody>
          <a:bodyPr anchor="t">
            <a:noAutofit/>
          </a:bodyPr>
          <a:lstStyle/>
          <a:p>
            <a:pPr algn="l"/>
            <a:r>
              <a:rPr lang="en-US" sz="4000" b="1" dirty="0"/>
              <a:t>Git Bash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AA6C891-2699-C92F-7A60-18374853D8B8}"/>
              </a:ext>
            </a:extLst>
          </p:cNvPr>
          <p:cNvSpPr txBox="1">
            <a:spLocks/>
          </p:cNvSpPr>
          <p:nvPr/>
        </p:nvSpPr>
        <p:spPr>
          <a:xfrm>
            <a:off x="4256995" y="819087"/>
            <a:ext cx="5859517" cy="6749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/>
              <a:t>Remote Repositories</a:t>
            </a:r>
            <a:endParaRPr lang="en-US" sz="4000" dirty="0"/>
          </a:p>
        </p:txBody>
      </p:sp>
      <p:pic>
        <p:nvPicPr>
          <p:cNvPr id="1026" name="Picture 2" descr="Image result for git">
            <a:extLst>
              <a:ext uri="{FF2B5EF4-FFF2-40B4-BE49-F238E27FC236}">
                <a16:creationId xmlns:a16="http://schemas.microsoft.com/office/drawing/2014/main" id="{927DEC41-84B0-5AA9-7142-9003FB181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333" y="-62875"/>
            <a:ext cx="1535266" cy="1763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cmd prompt logo">
            <a:extLst>
              <a:ext uri="{FF2B5EF4-FFF2-40B4-BE49-F238E27FC236}">
                <a16:creationId xmlns:a16="http://schemas.microsoft.com/office/drawing/2014/main" id="{FBAF0BBE-EBD2-34F2-22F9-DC6ACE0C0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9171" y="2823629"/>
            <a:ext cx="1234637" cy="1210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E82AA8-ECC9-06A8-04D4-E545924F92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3510" y="5127950"/>
            <a:ext cx="4504300" cy="132993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15CA414-1500-58CC-1BAF-AD2F1EA3492C}"/>
              </a:ext>
            </a:extLst>
          </p:cNvPr>
          <p:cNvSpPr txBox="1">
            <a:spLocks/>
          </p:cNvSpPr>
          <p:nvPr/>
        </p:nvSpPr>
        <p:spPr>
          <a:xfrm>
            <a:off x="2533920" y="6052086"/>
            <a:ext cx="5859517" cy="4732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Local Drive</a:t>
            </a:r>
            <a:endParaRPr lang="en-US" sz="4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598CC9-0F60-F672-4543-61BBE0CDA15A}"/>
              </a:ext>
            </a:extLst>
          </p:cNvPr>
          <p:cNvSpPr txBox="1"/>
          <p:nvPr/>
        </p:nvSpPr>
        <p:spPr>
          <a:xfrm>
            <a:off x="1234593" y="3974133"/>
            <a:ext cx="183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MAC Terminal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13E35C-0647-8950-BD05-F4BC8B5B68C8}"/>
              </a:ext>
            </a:extLst>
          </p:cNvPr>
          <p:cNvSpPr txBox="1"/>
          <p:nvPr/>
        </p:nvSpPr>
        <p:spPr>
          <a:xfrm>
            <a:off x="8280800" y="4158799"/>
            <a:ext cx="26380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/>
              <a:t>Windows Command Prompt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E9AD37-95E6-7F49-E207-680BAE9A59DE}"/>
              </a:ext>
            </a:extLst>
          </p:cNvPr>
          <p:cNvSpPr txBox="1"/>
          <p:nvPr/>
        </p:nvSpPr>
        <p:spPr>
          <a:xfrm>
            <a:off x="4889133" y="3691912"/>
            <a:ext cx="2638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/>
              <a:t>For Windows</a:t>
            </a:r>
            <a:endParaRPr lang="en-US" dirty="0"/>
          </a:p>
        </p:txBody>
      </p:sp>
      <p:sp>
        <p:nvSpPr>
          <p:cNvPr id="27" name="Arrow: Up-Down 26">
            <a:extLst>
              <a:ext uri="{FF2B5EF4-FFF2-40B4-BE49-F238E27FC236}">
                <a16:creationId xmlns:a16="http://schemas.microsoft.com/office/drawing/2014/main" id="{BE4396D3-5BC6-672C-A248-17053E3B9D15}"/>
              </a:ext>
            </a:extLst>
          </p:cNvPr>
          <p:cNvSpPr/>
          <p:nvPr/>
        </p:nvSpPr>
        <p:spPr>
          <a:xfrm rot="2307266">
            <a:off x="3654843" y="1334136"/>
            <a:ext cx="620111" cy="1524609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Up-Down 30">
            <a:extLst>
              <a:ext uri="{FF2B5EF4-FFF2-40B4-BE49-F238E27FC236}">
                <a16:creationId xmlns:a16="http://schemas.microsoft.com/office/drawing/2014/main" id="{63C72AB6-2585-F974-1962-6D231AFC0E4D}"/>
              </a:ext>
            </a:extLst>
          </p:cNvPr>
          <p:cNvSpPr/>
          <p:nvPr/>
        </p:nvSpPr>
        <p:spPr>
          <a:xfrm rot="2307266">
            <a:off x="7700915" y="4061849"/>
            <a:ext cx="620111" cy="1524609"/>
          </a:xfrm>
          <a:prstGeom prst="upDown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Up-Down 31">
            <a:extLst>
              <a:ext uri="{FF2B5EF4-FFF2-40B4-BE49-F238E27FC236}">
                <a16:creationId xmlns:a16="http://schemas.microsoft.com/office/drawing/2014/main" id="{B6858DBA-345A-BE12-2AB9-B6AA5396DA14}"/>
              </a:ext>
            </a:extLst>
          </p:cNvPr>
          <p:cNvSpPr/>
          <p:nvPr/>
        </p:nvSpPr>
        <p:spPr>
          <a:xfrm rot="18596377">
            <a:off x="8106457" y="1204351"/>
            <a:ext cx="620111" cy="1524609"/>
          </a:xfrm>
          <a:prstGeom prst="upDown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Up-Down 32">
            <a:extLst>
              <a:ext uri="{FF2B5EF4-FFF2-40B4-BE49-F238E27FC236}">
                <a16:creationId xmlns:a16="http://schemas.microsoft.com/office/drawing/2014/main" id="{7F717E64-94C3-12FB-8BB9-3755DD51DE61}"/>
              </a:ext>
            </a:extLst>
          </p:cNvPr>
          <p:cNvSpPr/>
          <p:nvPr/>
        </p:nvSpPr>
        <p:spPr>
          <a:xfrm rot="8049888">
            <a:off x="3704041" y="4303288"/>
            <a:ext cx="620111" cy="1524609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Up-Down 33">
            <a:extLst>
              <a:ext uri="{FF2B5EF4-FFF2-40B4-BE49-F238E27FC236}">
                <a16:creationId xmlns:a16="http://schemas.microsoft.com/office/drawing/2014/main" id="{F7962B36-10FE-B7D0-AA1F-5941A051B20E}"/>
              </a:ext>
            </a:extLst>
          </p:cNvPr>
          <p:cNvSpPr/>
          <p:nvPr/>
        </p:nvSpPr>
        <p:spPr>
          <a:xfrm>
            <a:off x="6106374" y="1619592"/>
            <a:ext cx="620111" cy="1524609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Arrow: Up-Down 34">
            <a:extLst>
              <a:ext uri="{FF2B5EF4-FFF2-40B4-BE49-F238E27FC236}">
                <a16:creationId xmlns:a16="http://schemas.microsoft.com/office/drawing/2014/main" id="{D9F9B930-3A81-1A0B-4433-C6A57DDD2501}"/>
              </a:ext>
            </a:extLst>
          </p:cNvPr>
          <p:cNvSpPr/>
          <p:nvPr/>
        </p:nvSpPr>
        <p:spPr>
          <a:xfrm>
            <a:off x="5917783" y="4020050"/>
            <a:ext cx="620111" cy="1524609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2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9A7B94-46E5-4EAA-F182-C3C7032F8807}"/>
              </a:ext>
            </a:extLst>
          </p:cNvPr>
          <p:cNvSpPr txBox="1"/>
          <p:nvPr/>
        </p:nvSpPr>
        <p:spPr>
          <a:xfrm>
            <a:off x="420413" y="484474"/>
            <a:ext cx="102896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Bash Commands Managing local files and </a:t>
            </a:r>
            <a:r>
              <a:rPr lang="en-US" sz="2800" dirty="0">
                <a:solidFill>
                  <a:srgbClr val="0A0A23"/>
                </a:solidFill>
                <a:latin typeface="Lato" panose="020F0502020204030203" pitchFamily="34" charset="0"/>
              </a:rPr>
              <a:t>directories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487799-CBA6-0C8F-C3AC-CC68075EABFD}"/>
              </a:ext>
            </a:extLst>
          </p:cNvPr>
          <p:cNvSpPr txBox="1"/>
          <p:nvPr/>
        </p:nvSpPr>
        <p:spPr>
          <a:xfrm>
            <a:off x="1030012" y="1512320"/>
            <a:ext cx="775663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A0A23"/>
                </a:solidFill>
                <a:latin typeface="Lato" panose="020F0502020204030203" pitchFamily="34" charset="0"/>
              </a:rPr>
              <a:t>cd -       # change to previous directory</a:t>
            </a:r>
          </a:p>
          <a:p>
            <a:r>
              <a:rPr lang="en-US" b="1" dirty="0"/>
              <a:t>cd ~     # go to user folder</a:t>
            </a:r>
          </a:p>
          <a:p>
            <a:r>
              <a:rPr lang="en-US" b="1" dirty="0"/>
              <a:t>cd ..    # go to parent </a:t>
            </a:r>
          </a:p>
          <a:p>
            <a:r>
              <a:rPr lang="en-US" b="1" dirty="0" err="1"/>
              <a:t>pwd</a:t>
            </a:r>
            <a:r>
              <a:rPr lang="en-US" b="1" dirty="0"/>
              <a:t>   #current directory</a:t>
            </a:r>
          </a:p>
          <a:p>
            <a:r>
              <a:rPr lang="en-US" b="1" dirty="0" err="1"/>
              <a:t>mkdir</a:t>
            </a:r>
            <a:r>
              <a:rPr lang="en-US" b="1" dirty="0"/>
              <a:t>  # make directory</a:t>
            </a:r>
          </a:p>
          <a:p>
            <a:r>
              <a:rPr lang="en-US" b="1" dirty="0"/>
              <a:t>ls    # list </a:t>
            </a:r>
            <a:r>
              <a:rPr lang="en-US" b="1" dirty="0" err="1"/>
              <a:t>subdiretories</a:t>
            </a:r>
            <a:endParaRPr lang="en-US" b="1" dirty="0"/>
          </a:p>
          <a:p>
            <a:r>
              <a:rPr lang="en-US" b="1" dirty="0"/>
              <a:t>rm –r  # remove the folder and all subs </a:t>
            </a:r>
          </a:p>
          <a:p>
            <a:r>
              <a:rPr lang="en-US" b="1" dirty="0"/>
              <a:t>cp onefile.txt </a:t>
            </a:r>
            <a:r>
              <a:rPr lang="en-US" b="1" dirty="0" err="1"/>
              <a:t>anotherfolder</a:t>
            </a:r>
            <a:endParaRPr lang="en-US" b="1" dirty="0"/>
          </a:p>
          <a:p>
            <a:r>
              <a:rPr lang="en-US" b="1" dirty="0"/>
              <a:t>touch newfile.txt</a:t>
            </a:r>
          </a:p>
          <a:p>
            <a:r>
              <a:rPr lang="en-US" b="1" dirty="0"/>
              <a:t>Type exit to exit 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altLang="zh-CN" b="1" dirty="0"/>
              <a:t>For Mac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r>
              <a:rPr lang="en-US" b="1" dirty="0"/>
              <a:t>To bash: bash</a:t>
            </a:r>
          </a:p>
          <a:p>
            <a:r>
              <a:rPr lang="en-US" b="1" dirty="0"/>
              <a:t>Clear screen: clear</a:t>
            </a:r>
          </a:p>
          <a:p>
            <a:r>
              <a:rPr lang="en-US" b="1" dirty="0"/>
              <a:t>To exit bash script: ctrl +X    if at run time: </a:t>
            </a:r>
            <a:r>
              <a:rPr lang="en-US" b="1" dirty="0" err="1"/>
              <a:t>ctrl+Z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49061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731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81232"/>
            <a:ext cx="12192000" cy="674906"/>
          </a:xfrm>
        </p:spPr>
        <p:txBody>
          <a:bodyPr anchor="t">
            <a:noAutofit/>
          </a:bodyPr>
          <a:lstStyle/>
          <a:p>
            <a:pPr algn="l"/>
            <a:r>
              <a:rPr lang="en-US" sz="4000" b="1" dirty="0"/>
              <a:t>Create a folder to be “tracked”</a:t>
            </a:r>
            <a:br>
              <a:rPr lang="en-US" sz="4000" b="1" dirty="0"/>
            </a:br>
            <a:br>
              <a:rPr lang="en-US" sz="4000" b="1" dirty="0"/>
            </a:br>
            <a:r>
              <a:rPr lang="en-US" sz="4000" b="1" dirty="0"/>
              <a:t>ctrl + </a:t>
            </a:r>
            <a:r>
              <a:rPr lang="en-US" sz="4000" b="1" dirty="0" err="1"/>
              <a:t>cmd</a:t>
            </a:r>
            <a:r>
              <a:rPr lang="en-US" sz="4000" b="1" dirty="0"/>
              <a:t> + Q: for lock mac screen</a:t>
            </a:r>
            <a:br>
              <a:rPr lang="en-US" sz="4000" b="1" dirty="0"/>
            </a:b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982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81232"/>
            <a:ext cx="12192000" cy="674906"/>
          </a:xfrm>
        </p:spPr>
        <p:txBody>
          <a:bodyPr anchor="t">
            <a:noAutofit/>
          </a:bodyPr>
          <a:lstStyle/>
          <a:p>
            <a:pPr algn="l"/>
            <a:r>
              <a:rPr lang="en-US" sz="4000" b="1" dirty="0"/>
              <a:t>Create a folder to be “tracked”</a:t>
            </a:r>
            <a:br>
              <a:rPr lang="en-US" sz="4000" b="1" dirty="0"/>
            </a:br>
            <a:br>
              <a:rPr lang="en-US" sz="4000" b="1" dirty="0"/>
            </a:br>
            <a:r>
              <a:rPr lang="en-US" sz="4000" b="1" dirty="0"/>
              <a:t>ctrl + </a:t>
            </a:r>
            <a:r>
              <a:rPr lang="en-US" sz="4000" b="1" dirty="0" err="1"/>
              <a:t>cmd</a:t>
            </a:r>
            <a:r>
              <a:rPr lang="en-US" sz="4000" b="1" dirty="0"/>
              <a:t> + Q: for lock mac screen</a:t>
            </a:r>
            <a:br>
              <a:rPr lang="en-US" sz="4000" b="1" dirty="0"/>
            </a:b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8183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6937</TotalTime>
  <Words>302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Lato</vt:lpstr>
      <vt:lpstr>Roboto</vt:lpstr>
      <vt:lpstr>Office Theme</vt:lpstr>
      <vt:lpstr>Cross Lesson Materials:  git and envs </vt:lpstr>
      <vt:lpstr>Git Bash</vt:lpstr>
      <vt:lpstr>PowerPoint Presentation</vt:lpstr>
      <vt:lpstr>Git Bash</vt:lpstr>
      <vt:lpstr>PowerPoint Presentation</vt:lpstr>
      <vt:lpstr>PowerPoint Presentation</vt:lpstr>
      <vt:lpstr>Create a folder to be “tracked”  ctrl + cmd + Q: for lock mac screen </vt:lpstr>
      <vt:lpstr>Create a folder to be “tracked”  ctrl + cmd + Q: for lock mac screen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and Thank You for Choosing Us for This Journey</dc:title>
  <dc:creator>Stempro Academy</dc:creator>
  <cp:lastModifiedBy>Stempro Academy</cp:lastModifiedBy>
  <cp:revision>38</cp:revision>
  <dcterms:created xsi:type="dcterms:W3CDTF">2022-06-16T15:05:39Z</dcterms:created>
  <dcterms:modified xsi:type="dcterms:W3CDTF">2022-07-02T20:57:34Z</dcterms:modified>
</cp:coreProperties>
</file>