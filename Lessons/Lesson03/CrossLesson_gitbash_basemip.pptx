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2" r:id="rId4"/>
    <p:sldId id="315" r:id="rId5"/>
    <p:sldId id="316" r:id="rId6"/>
    <p:sldId id="313" r:id="rId7"/>
    <p:sldId id="317" r:id="rId8"/>
    <p:sldId id="31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4290465"/>
          </a:xfrm>
        </p:spPr>
        <p:txBody>
          <a:bodyPr>
            <a:normAutofit/>
          </a:bodyPr>
          <a:lstStyle/>
          <a:p>
            <a:r>
              <a:rPr lang="en-US" altLang="zh-CN" b="1" dirty="0"/>
              <a:t>Cross Lesson Materials: </a:t>
            </a:r>
            <a:br>
              <a:rPr lang="en-US" altLang="zh-CN" b="1" dirty="0"/>
            </a:br>
            <a:r>
              <a:rPr lang="en-US" altLang="zh-CN" b="1" dirty="0"/>
              <a:t>git</a:t>
            </a:r>
            <a:br>
              <a:rPr lang="en-US" altLang="zh-CN" b="1" dirty="0"/>
            </a:br>
            <a:r>
              <a:rPr lang="en-US" altLang="zh-CN" b="1" dirty="0"/>
              <a:t>and </a:t>
            </a:r>
            <a:r>
              <a:rPr lang="en-US" altLang="zh-CN" b="1" dirty="0" err="1"/>
              <a:t>envs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Git Bash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DAF25-4F64-C2A0-A106-4381115189AD}"/>
              </a:ext>
            </a:extLst>
          </p:cNvPr>
          <p:cNvSpPr txBox="1"/>
          <p:nvPr/>
        </p:nvSpPr>
        <p:spPr>
          <a:xfrm>
            <a:off x="990601" y="1632873"/>
            <a:ext cx="10024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First things first: </a:t>
            </a:r>
          </a:p>
          <a:p>
            <a:r>
              <a:rPr lang="en-US" dirty="0">
                <a:solidFill>
                  <a:srgbClr val="444444"/>
                </a:solidFill>
                <a:latin typeface="Roboto" panose="02000000000000000000" pitchFamily="2" charset="0"/>
              </a:rPr>
              <a:t>Pull today’s materials</a:t>
            </a:r>
          </a:p>
          <a:p>
            <a:endParaRPr lang="en-US" dirty="0">
              <a:solidFill>
                <a:srgbClr val="444444"/>
              </a:solidFill>
              <a:latin typeface="Roboto" panose="02000000000000000000" pitchFamily="2" charset="0"/>
            </a:endParaRPr>
          </a:p>
          <a:p>
            <a:endParaRPr lang="en-US" dirty="0">
              <a:solidFill>
                <a:srgbClr val="444444"/>
              </a:solidFill>
              <a:latin typeface="Roboto" panose="02000000000000000000" pitchFamily="2" charset="0"/>
            </a:endParaRPr>
          </a:p>
          <a:p>
            <a:endParaRPr lang="en-US" dirty="0">
              <a:solidFill>
                <a:srgbClr val="444444"/>
              </a:solidFill>
              <a:latin typeface="Roboto" panose="02000000000000000000" pitchFamily="2" charset="0"/>
            </a:endParaRPr>
          </a:p>
          <a:p>
            <a:r>
              <a:rPr lang="en-US" dirty="0">
                <a:solidFill>
                  <a:srgbClr val="444444"/>
                </a:solidFill>
                <a:latin typeface="Roboto" panose="02000000000000000000" pitchFamily="2" charset="0"/>
              </a:rPr>
              <a:t>git branch –a</a:t>
            </a:r>
          </a:p>
          <a:p>
            <a:r>
              <a:rPr lang="en-US" dirty="0">
                <a:solidFill>
                  <a:srgbClr val="444444"/>
                </a:solidFill>
                <a:latin typeface="Roboto" panose="02000000000000000000" pitchFamily="2" charset="0"/>
              </a:rPr>
              <a:t>Git pull –all </a:t>
            </a:r>
          </a:p>
          <a:p>
            <a:r>
              <a:rPr lang="en-US" dirty="0">
                <a:solidFill>
                  <a:srgbClr val="444444"/>
                </a:solidFill>
                <a:latin typeface="Roboto" panose="02000000000000000000" pitchFamily="2" charset="0"/>
              </a:rPr>
              <a:t>Git checkout –b lesson3 origin/</a:t>
            </a:r>
          </a:p>
        </p:txBody>
      </p:sp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Image result for git">
            <a:extLst>
              <a:ext uri="{FF2B5EF4-FFF2-40B4-BE49-F238E27FC236}">
                <a16:creationId xmlns:a16="http://schemas.microsoft.com/office/drawing/2014/main" id="{927DEC41-84B0-5AA9-7142-9003FB181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134" y="1726072"/>
            <a:ext cx="1535266" cy="176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89A7B94-46E5-4EAA-F182-C3C7032F8807}"/>
              </a:ext>
            </a:extLst>
          </p:cNvPr>
          <p:cNvSpPr txBox="1"/>
          <p:nvPr/>
        </p:nvSpPr>
        <p:spPr>
          <a:xfrm>
            <a:off x="1103586" y="585978"/>
            <a:ext cx="102896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Git is an </a:t>
            </a:r>
            <a:r>
              <a:rPr lang="en-US" sz="3200" b="1" i="0" dirty="0">
                <a:effectLst/>
                <a:latin typeface="Lato" panose="020F0502020204030203" pitchFamily="34" charset="0"/>
              </a:rPr>
              <a:t>Open Source 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Lato" panose="020F0502020204030203" pitchFamily="34" charset="0"/>
              </a:rPr>
              <a:t>Distributed</a:t>
            </a:r>
            <a:r>
              <a:rPr lang="en-US" sz="2800" i="0" dirty="0">
                <a:effectLst/>
                <a:latin typeface="Lato" panose="020F0502020204030203" pitchFamily="34" charset="0"/>
              </a:rPr>
              <a:t> </a:t>
            </a:r>
            <a:r>
              <a:rPr lang="en-US" sz="28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Version Control </a:t>
            </a:r>
            <a:r>
              <a:rPr lang="en-US" sz="2800" i="0" dirty="0">
                <a:effectLst/>
                <a:latin typeface="Lato" panose="020F0502020204030203" pitchFamily="34" charset="0"/>
              </a:rPr>
              <a:t>System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487799-CBA6-0C8F-C3AC-CC68075EABFD}"/>
              </a:ext>
            </a:extLst>
          </p:cNvPr>
          <p:cNvSpPr txBox="1"/>
          <p:nvPr/>
        </p:nvSpPr>
        <p:spPr>
          <a:xfrm>
            <a:off x="2638095" y="3751024"/>
            <a:ext cx="77566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What is version? Change and time. </a:t>
            </a:r>
          </a:p>
          <a:p>
            <a:r>
              <a:rPr lang="en-US" b="1" dirty="0">
                <a:solidFill>
                  <a:srgbClr val="0A0A23"/>
                </a:solidFill>
                <a:latin typeface="Lato" panose="020F0502020204030203" pitchFamily="34" charset="0"/>
              </a:rPr>
              <a:t>What is Open Source? Anyone(yes) can inspect, modify and enhance</a:t>
            </a:r>
          </a:p>
          <a:p>
            <a:r>
              <a:rPr lang="en-US" b="1" dirty="0">
                <a:solidFill>
                  <a:srgbClr val="0A0A23"/>
                </a:solidFill>
                <a:latin typeface="Lato" panose="020F0502020204030203" pitchFamily="34" charset="0"/>
              </a:rPr>
              <a:t>What is Distributed?  -- Spread over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9B68E7-360B-F3B7-0809-A497A2F82DD3}"/>
              </a:ext>
            </a:extLst>
          </p:cNvPr>
          <p:cNvSpPr txBox="1"/>
          <p:nvPr/>
        </p:nvSpPr>
        <p:spPr>
          <a:xfrm>
            <a:off x="2186152" y="54278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Lato" panose="020F0502020204030203" pitchFamily="34" charset="0"/>
              </a:rPr>
              <a:t>To make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use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of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this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tool</a:t>
            </a:r>
            <a:r>
              <a:rPr lang="en-US" sz="2400" b="1" i="0" dirty="0">
                <a:effectLst/>
                <a:latin typeface="Lato" panose="020F0502020204030203" pitchFamily="34" charset="0"/>
              </a:rPr>
              <a:t>: Command Line  </a:t>
            </a:r>
          </a:p>
        </p:txBody>
      </p:sp>
    </p:spTree>
    <p:extLst>
      <p:ext uri="{BB962C8B-B14F-4D97-AF65-F5344CB8AC3E}">
        <p14:creationId xmlns:p14="http://schemas.microsoft.com/office/powerpoint/2010/main" val="33921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DDE036-0944-D0C5-5EBE-E170CAB1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64" y="2953713"/>
            <a:ext cx="3734898" cy="157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23F738-CE2D-9E5A-61F8-98A373812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337" y="369332"/>
            <a:ext cx="1574417" cy="1574417"/>
          </a:xfrm>
          <a:prstGeom prst="rect">
            <a:avLst/>
          </a:prstGeom>
        </p:spPr>
      </p:pic>
      <p:pic>
        <p:nvPicPr>
          <p:cNvPr id="1030" name="Picture 6" descr="Using git commands on Windows">
            <a:extLst>
              <a:ext uri="{FF2B5EF4-FFF2-40B4-BE49-F238E27FC236}">
                <a16:creationId xmlns:a16="http://schemas.microsoft.com/office/drawing/2014/main" id="{6959E194-3D75-5B28-6A9E-B9779E714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729" y="2877474"/>
            <a:ext cx="1345321" cy="134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444" y="3319436"/>
            <a:ext cx="2186152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Git Bash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A6C891-2699-C92F-7A60-18374853D8B8}"/>
              </a:ext>
            </a:extLst>
          </p:cNvPr>
          <p:cNvSpPr txBox="1">
            <a:spLocks/>
          </p:cNvSpPr>
          <p:nvPr/>
        </p:nvSpPr>
        <p:spPr>
          <a:xfrm>
            <a:off x="4256995" y="819087"/>
            <a:ext cx="5859517" cy="6749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/>
              <a:t>Remote Repositories</a:t>
            </a:r>
            <a:endParaRPr lang="en-US" sz="4000" dirty="0"/>
          </a:p>
        </p:txBody>
      </p:sp>
      <p:pic>
        <p:nvPicPr>
          <p:cNvPr id="1026" name="Picture 2" descr="Image result for git">
            <a:extLst>
              <a:ext uri="{FF2B5EF4-FFF2-40B4-BE49-F238E27FC236}">
                <a16:creationId xmlns:a16="http://schemas.microsoft.com/office/drawing/2014/main" id="{927DEC41-84B0-5AA9-7142-9003FB181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33" y="-62875"/>
            <a:ext cx="1535266" cy="176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cmd prompt logo">
            <a:extLst>
              <a:ext uri="{FF2B5EF4-FFF2-40B4-BE49-F238E27FC236}">
                <a16:creationId xmlns:a16="http://schemas.microsoft.com/office/drawing/2014/main" id="{FBAF0BBE-EBD2-34F2-22F9-DC6ACE0C0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171" y="2823629"/>
            <a:ext cx="1234637" cy="121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E82AA8-ECC9-06A8-04D4-E545924F92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3510" y="5127950"/>
            <a:ext cx="4504300" cy="132993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15CA414-1500-58CC-1BAF-AD2F1EA3492C}"/>
              </a:ext>
            </a:extLst>
          </p:cNvPr>
          <p:cNvSpPr txBox="1">
            <a:spLocks/>
          </p:cNvSpPr>
          <p:nvPr/>
        </p:nvSpPr>
        <p:spPr>
          <a:xfrm>
            <a:off x="2533920" y="6052086"/>
            <a:ext cx="5859517" cy="473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Local Drive</a:t>
            </a:r>
            <a:endParaRPr lang="en-US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598CC9-0F60-F672-4543-61BBE0CDA15A}"/>
              </a:ext>
            </a:extLst>
          </p:cNvPr>
          <p:cNvSpPr txBox="1"/>
          <p:nvPr/>
        </p:nvSpPr>
        <p:spPr>
          <a:xfrm>
            <a:off x="1234593" y="3974133"/>
            <a:ext cx="183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MAC Terminal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13E35C-0647-8950-BD05-F4BC8B5B68C8}"/>
              </a:ext>
            </a:extLst>
          </p:cNvPr>
          <p:cNvSpPr txBox="1"/>
          <p:nvPr/>
        </p:nvSpPr>
        <p:spPr>
          <a:xfrm>
            <a:off x="8280800" y="4158799"/>
            <a:ext cx="2638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Windows Command Prompt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E9AD37-95E6-7F49-E207-680BAE9A59DE}"/>
              </a:ext>
            </a:extLst>
          </p:cNvPr>
          <p:cNvSpPr txBox="1"/>
          <p:nvPr/>
        </p:nvSpPr>
        <p:spPr>
          <a:xfrm>
            <a:off x="4889133" y="3691912"/>
            <a:ext cx="2638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For Windows</a:t>
            </a:r>
            <a:endParaRPr lang="en-US" dirty="0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BE4396D3-5BC6-672C-A248-17053E3B9D15}"/>
              </a:ext>
            </a:extLst>
          </p:cNvPr>
          <p:cNvSpPr/>
          <p:nvPr/>
        </p:nvSpPr>
        <p:spPr>
          <a:xfrm rot="2307266">
            <a:off x="3654843" y="1334136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63C72AB6-2585-F974-1962-6D231AFC0E4D}"/>
              </a:ext>
            </a:extLst>
          </p:cNvPr>
          <p:cNvSpPr/>
          <p:nvPr/>
        </p:nvSpPr>
        <p:spPr>
          <a:xfrm rot="2307266">
            <a:off x="7700915" y="4061849"/>
            <a:ext cx="620111" cy="1524609"/>
          </a:xfrm>
          <a:prstGeom prst="up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Up-Down 31">
            <a:extLst>
              <a:ext uri="{FF2B5EF4-FFF2-40B4-BE49-F238E27FC236}">
                <a16:creationId xmlns:a16="http://schemas.microsoft.com/office/drawing/2014/main" id="{B6858DBA-345A-BE12-2AB9-B6AA5396DA14}"/>
              </a:ext>
            </a:extLst>
          </p:cNvPr>
          <p:cNvSpPr/>
          <p:nvPr/>
        </p:nvSpPr>
        <p:spPr>
          <a:xfrm rot="18596377">
            <a:off x="8106457" y="1204351"/>
            <a:ext cx="620111" cy="1524609"/>
          </a:xfrm>
          <a:prstGeom prst="up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Up-Down 32">
            <a:extLst>
              <a:ext uri="{FF2B5EF4-FFF2-40B4-BE49-F238E27FC236}">
                <a16:creationId xmlns:a16="http://schemas.microsoft.com/office/drawing/2014/main" id="{7F717E64-94C3-12FB-8BB9-3755DD51DE61}"/>
              </a:ext>
            </a:extLst>
          </p:cNvPr>
          <p:cNvSpPr/>
          <p:nvPr/>
        </p:nvSpPr>
        <p:spPr>
          <a:xfrm rot="8049888">
            <a:off x="3704041" y="4303288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F7962B36-10FE-B7D0-AA1F-5941A051B20E}"/>
              </a:ext>
            </a:extLst>
          </p:cNvPr>
          <p:cNvSpPr/>
          <p:nvPr/>
        </p:nvSpPr>
        <p:spPr>
          <a:xfrm>
            <a:off x="6106374" y="1619592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D9F9B930-3A81-1A0B-4433-C6A57DDD2501}"/>
              </a:ext>
            </a:extLst>
          </p:cNvPr>
          <p:cNvSpPr/>
          <p:nvPr/>
        </p:nvSpPr>
        <p:spPr>
          <a:xfrm>
            <a:off x="5917783" y="4020050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9A7B94-46E5-4EAA-F182-C3C7032F8807}"/>
              </a:ext>
            </a:extLst>
          </p:cNvPr>
          <p:cNvSpPr txBox="1"/>
          <p:nvPr/>
        </p:nvSpPr>
        <p:spPr>
          <a:xfrm>
            <a:off x="420413" y="484474"/>
            <a:ext cx="10289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Bash Commands Managing local files and </a:t>
            </a:r>
            <a:r>
              <a:rPr lang="en-US" sz="2800" dirty="0">
                <a:solidFill>
                  <a:srgbClr val="0A0A23"/>
                </a:solidFill>
                <a:latin typeface="Lato" panose="020F0502020204030203" pitchFamily="34" charset="0"/>
              </a:rPr>
              <a:t>directories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487799-CBA6-0C8F-C3AC-CC68075EABFD}"/>
              </a:ext>
            </a:extLst>
          </p:cNvPr>
          <p:cNvSpPr txBox="1"/>
          <p:nvPr/>
        </p:nvSpPr>
        <p:spPr>
          <a:xfrm>
            <a:off x="1030012" y="1512320"/>
            <a:ext cx="775663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A0A23"/>
                </a:solidFill>
                <a:latin typeface="Lato" panose="020F0502020204030203" pitchFamily="34" charset="0"/>
              </a:rPr>
              <a:t>cd -       # change to previous directory</a:t>
            </a:r>
          </a:p>
          <a:p>
            <a:r>
              <a:rPr lang="en-US" b="1" dirty="0"/>
              <a:t>cd ~     # go to user folder</a:t>
            </a:r>
          </a:p>
          <a:p>
            <a:r>
              <a:rPr lang="en-US" b="1" dirty="0"/>
              <a:t>cd ..    # go to parent </a:t>
            </a:r>
          </a:p>
          <a:p>
            <a:r>
              <a:rPr lang="en-US" b="1" dirty="0" err="1"/>
              <a:t>pwd</a:t>
            </a:r>
            <a:r>
              <a:rPr lang="en-US" b="1" dirty="0"/>
              <a:t>   #current directory</a:t>
            </a:r>
          </a:p>
          <a:p>
            <a:r>
              <a:rPr lang="en-US" b="1" dirty="0" err="1"/>
              <a:t>mkdir</a:t>
            </a:r>
            <a:r>
              <a:rPr lang="en-US" b="1" dirty="0"/>
              <a:t>  # make directory</a:t>
            </a:r>
          </a:p>
          <a:p>
            <a:r>
              <a:rPr lang="en-US" b="1" dirty="0"/>
              <a:t>ls    # list </a:t>
            </a:r>
            <a:r>
              <a:rPr lang="en-US" b="1" dirty="0" err="1"/>
              <a:t>subdiretories</a:t>
            </a:r>
            <a:endParaRPr lang="en-US" b="1" dirty="0"/>
          </a:p>
          <a:p>
            <a:r>
              <a:rPr lang="en-US" b="1" dirty="0"/>
              <a:t>rm –r  # remove the folder and all subs </a:t>
            </a:r>
          </a:p>
          <a:p>
            <a:r>
              <a:rPr lang="en-US" b="1" dirty="0"/>
              <a:t>cp onefile.txt </a:t>
            </a:r>
            <a:r>
              <a:rPr lang="en-US" b="1" dirty="0" err="1"/>
              <a:t>anotherfolder</a:t>
            </a:r>
            <a:endParaRPr lang="en-US" b="1" dirty="0"/>
          </a:p>
          <a:p>
            <a:r>
              <a:rPr lang="en-US" b="1" dirty="0"/>
              <a:t>touch newfile.txt</a:t>
            </a:r>
          </a:p>
          <a:p>
            <a:r>
              <a:rPr lang="en-US" b="1" dirty="0"/>
              <a:t>Type exit to exit 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altLang="zh-CN" b="1" dirty="0"/>
              <a:t>For Mac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r>
              <a:rPr lang="en-US" b="1" dirty="0"/>
              <a:t>To bash: bash</a:t>
            </a:r>
          </a:p>
          <a:p>
            <a:r>
              <a:rPr lang="en-US" b="1" dirty="0"/>
              <a:t>Clear screen: clear</a:t>
            </a:r>
          </a:p>
          <a:p>
            <a:r>
              <a:rPr lang="en-US" b="1" dirty="0"/>
              <a:t>To exit bash script: ctrl +X    if at run time: </a:t>
            </a:r>
            <a:r>
              <a:rPr lang="en-US" b="1" dirty="0" err="1"/>
              <a:t>ctrl+Z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906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11140965" y="0"/>
            <a:ext cx="1051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</a:t>
            </a:r>
          </a:p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Pro </a:t>
            </a:r>
          </a:p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Academy, </a:t>
            </a:r>
          </a:p>
          <a:p>
            <a:pPr algn="ctr"/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E2E67-911D-E70D-2D33-1621DB277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36166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EC90C8-600B-EF3B-B524-1FA3E848A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48418">
            <a:off x="929456" y="387785"/>
            <a:ext cx="2715123" cy="19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3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CDCF6-5A6B-2315-590E-BB6973C52D03}"/>
              </a:ext>
            </a:extLst>
          </p:cNvPr>
          <p:cNvSpPr txBox="1"/>
          <p:nvPr/>
        </p:nvSpPr>
        <p:spPr>
          <a:xfrm>
            <a:off x="819807" y="603610"/>
            <a:ext cx="10972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Little Quiz:</a:t>
            </a:r>
          </a:p>
          <a:p>
            <a:endParaRPr lang="en-US" dirty="0">
              <a:solidFill>
                <a:srgbClr val="0A0A23"/>
              </a:solidFill>
              <a:latin typeface="Lato" panose="020F0502020204030203" pitchFamily="34" charset="0"/>
            </a:endParaRPr>
          </a:p>
          <a:p>
            <a:r>
              <a:rPr 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1.  git == </a:t>
            </a:r>
            <a:r>
              <a:rPr lang="en-US" sz="1800" i="0" dirty="0" err="1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github</a:t>
            </a:r>
            <a:r>
              <a:rPr 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?</a:t>
            </a:r>
          </a:p>
          <a:p>
            <a:endParaRPr lang="en-US" dirty="0">
              <a:solidFill>
                <a:srgbClr val="0A0A23"/>
              </a:solidFill>
              <a:latin typeface="Lato" panose="020F0502020204030203" pitchFamily="34" charset="0"/>
            </a:endParaRPr>
          </a:p>
          <a:p>
            <a:r>
              <a:rPr 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2. Explain git to your classmate</a:t>
            </a:r>
          </a:p>
          <a:p>
            <a:endParaRPr lang="en-US" dirty="0">
              <a:solidFill>
                <a:srgbClr val="0A0A23"/>
              </a:solidFill>
              <a:latin typeface="Lato" panose="020F0502020204030203" pitchFamily="34" charset="0"/>
            </a:endParaRPr>
          </a:p>
          <a:p>
            <a:r>
              <a:rPr 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3. Command to checkout a remote branch</a:t>
            </a:r>
          </a:p>
          <a:p>
            <a:endParaRPr lang="en-US" dirty="0">
              <a:solidFill>
                <a:srgbClr val="0A0A23"/>
              </a:solidFill>
              <a:latin typeface="Lato" panose="020F0502020204030203" pitchFamily="34" charset="0"/>
            </a:endParaRPr>
          </a:p>
          <a:p>
            <a:endParaRPr lang="en-US" sz="180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  <a:p>
            <a:r>
              <a:rPr 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Git</a:t>
            </a:r>
            <a:r>
              <a:rPr lang="zh-CN" alt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CN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checkout</a:t>
            </a:r>
            <a:r>
              <a:rPr lang="zh-CN" alt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CN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–b</a:t>
            </a:r>
            <a:r>
              <a:rPr lang="zh-CN" alt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  </a:t>
            </a:r>
            <a:r>
              <a:rPr lang="en-US" altLang="zh-CN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ds03</a:t>
            </a:r>
            <a:r>
              <a:rPr lang="zh-CN" altLang="en-US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  </a:t>
            </a:r>
            <a:r>
              <a:rPr lang="en-US" altLang="zh-CN" sz="1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origin/Lessons</a:t>
            </a:r>
            <a:endParaRPr lang="en-US" sz="180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  <a:p>
            <a:endParaRPr lang="en-US" sz="1800" i="0" dirty="0">
              <a:solidFill>
                <a:srgbClr val="0A0A23"/>
              </a:solidFill>
              <a:effectLst/>
              <a:latin typeface="Lato" panose="020F0502020204030203" pitchFamily="34" charset="0"/>
            </a:endParaRPr>
          </a:p>
          <a:p>
            <a:endParaRPr lang="en-US" dirty="0">
              <a:solidFill>
                <a:srgbClr val="0A0A23"/>
              </a:solidFill>
              <a:latin typeface="Lato" panose="020F050202020403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98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560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7124</TotalTime>
  <Words>256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Roboto</vt:lpstr>
      <vt:lpstr>Office Theme</vt:lpstr>
      <vt:lpstr>Cross Lesson Materials:  git and envs </vt:lpstr>
      <vt:lpstr>Git Bash</vt:lpstr>
      <vt:lpstr>PowerPoint Presentation</vt:lpstr>
      <vt:lpstr>Git Bash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42</cp:revision>
  <dcterms:created xsi:type="dcterms:W3CDTF">2022-06-16T15:05:39Z</dcterms:created>
  <dcterms:modified xsi:type="dcterms:W3CDTF">2022-07-06T22:55:43Z</dcterms:modified>
</cp:coreProperties>
</file>