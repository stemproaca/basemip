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303" r:id="rId4"/>
    <p:sldId id="304" r:id="rId5"/>
    <p:sldId id="261" r:id="rId6"/>
    <p:sldId id="305" r:id="rId7"/>
    <p:sldId id="306" r:id="rId8"/>
    <p:sldId id="307" r:id="rId9"/>
    <p:sldId id="308" r:id="rId10"/>
    <p:sldId id="309" r:id="rId11"/>
    <p:sldId id="310" r:id="rId12"/>
    <p:sldId id="264" r:id="rId13"/>
    <p:sldId id="311" r:id="rId14"/>
    <p:sldId id="300" r:id="rId15"/>
    <p:sldId id="301" r:id="rId16"/>
    <p:sldId id="302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1" d="100"/>
          <a:sy n="91" d="100"/>
        </p:scale>
        <p:origin x="1212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63E1F2-78A4-3B13-AB95-7F308AAC25D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59E8D13-F41A-CAAB-CEF2-B79CEFD6D19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FC53132-E22E-D5BF-1C16-8E4980E687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72E7BD-C1BB-46F1-B277-8AE99D5C93A3}" type="datetimeFigureOut">
              <a:rPr lang="en-US" smtClean="0"/>
              <a:t>6/26/2022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5159FE3-16D7-52FF-C472-EE20657554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4A39434-558B-3A1C-AE43-2C6343D485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3FB9A7-7665-45CE-AE79-F73FEF87FB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863783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07236F-2AC6-C12D-5D39-E522A6B9E8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A8E49D-6EBF-29AB-4390-03B8AB805DE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0536906-F511-1C31-3A1C-0F1E543101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72E7BD-C1BB-46F1-B277-8AE99D5C93A3}" type="datetimeFigureOut">
              <a:rPr lang="en-US" smtClean="0"/>
              <a:t>6/26/2022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081E70-BE46-DF02-B7EE-3C60B1D2E8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D9D5001-61BA-A93F-9437-AAE45C874A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3FB9A7-7665-45CE-AE79-F73FEF87FB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04870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1502C7-0520-A6CE-5A62-9BB531628C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AC26CF6-1DC9-2128-B5FC-4A79F933DD9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4EC251-F4B6-C849-532B-0B04C066BA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72E7BD-C1BB-46F1-B277-8AE99D5C93A3}" type="datetimeFigureOut">
              <a:rPr lang="en-US" smtClean="0"/>
              <a:t>6/26/2022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55B787-2E21-332E-B535-83AF64D2ED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D7ACB9F-CE02-D187-0D37-7DF1403409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3FB9A7-7665-45CE-AE79-F73FEF87FB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37214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99E31A-F617-CC8E-543A-8C177A1B1F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98BA6D-560A-E467-66A7-3E74FFA7FD8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167FA88-C53C-6783-5933-C580146D6BD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6802EFE-E890-F30A-829C-CFF5F09122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72E7BD-C1BB-46F1-B277-8AE99D5C93A3}" type="datetimeFigureOut">
              <a:rPr lang="en-US" smtClean="0"/>
              <a:t>6/26/2022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72A3017-8A38-5A21-927F-8116892A21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13D48BE-44D2-6C93-3C00-69AE1707B9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3FB9A7-7665-45CE-AE79-F73FEF87FB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026524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3A787F-3DD8-D819-E1B5-1E7F584FDA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7C3F4DE-91C5-1863-D4BF-6DE492C537C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FF193A2-8269-10FB-A656-2BBF92FB197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4EFBC43-FF9B-72C0-EB11-DFB3B706EBC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14ED75F-DD95-9307-DD64-4078835952B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C1219C7-8137-D431-4FB8-A78739FD1B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72E7BD-C1BB-46F1-B277-8AE99D5C93A3}" type="datetimeFigureOut">
              <a:rPr lang="en-US" smtClean="0"/>
              <a:t>6/26/2022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AFA7F1A-D932-5D82-F902-9BA71A0D86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4D025AA-F95A-87A7-AE3B-D9A54029E1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3FB9A7-7665-45CE-AE79-F73FEF87FB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012369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1CB163-E0DB-5DB0-E851-69DC566C5D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CDB2AB2-75A8-1BBF-06EC-52129DDBB5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72E7BD-C1BB-46F1-B277-8AE99D5C93A3}" type="datetimeFigureOut">
              <a:rPr lang="en-US" smtClean="0"/>
              <a:t>6/26/2022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17D158F-2A15-E787-4064-6B2CB0BFBD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40F1C06-E8C0-E44D-66D2-BA8370F81C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3FB9A7-7665-45CE-AE79-F73FEF87FB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849242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42B674A-7561-BBE4-BBFD-CF30CAE726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72E7BD-C1BB-46F1-B277-8AE99D5C93A3}" type="datetimeFigureOut">
              <a:rPr lang="en-US" smtClean="0"/>
              <a:t>6/26/2022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4D0B8AE-AC3E-A349-1454-FDBC9A87AA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FF82CF5-862B-DCDD-5513-C9A933FD49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3FB9A7-7665-45CE-AE79-F73FEF87FB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6291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4B409D-4130-2E03-F0B9-AAFD1BF9F4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C8E6CA-3A66-868C-E320-FF6CBABCF9A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588321D-A975-A884-6209-FC1F20455C2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EE80FFC-3EA6-A873-0FC9-5BE3E0D7B5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72E7BD-C1BB-46F1-B277-8AE99D5C93A3}" type="datetimeFigureOut">
              <a:rPr lang="en-US" smtClean="0"/>
              <a:t>6/26/2022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35E94A9-5AE4-66D8-D2D2-7940919559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22C1DAB-57A1-028B-2D5F-E971975225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3FB9A7-7665-45CE-AE79-F73FEF87FB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01287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B3A8CE-0FCB-AC31-589D-6B8B4793CC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B4AE7A3-AD5F-92A6-9C69-638927DC9FC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4E7725A-F0B7-23F5-57EE-C80F5E364C8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DF0058F-41D4-AF41-E6A2-E998CFD1E5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72E7BD-C1BB-46F1-B277-8AE99D5C93A3}" type="datetimeFigureOut">
              <a:rPr lang="en-US" smtClean="0"/>
              <a:t>6/26/2022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83E63E8-A689-1C8C-7685-116650816E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3CCD9FF-C3FA-8767-900E-31E36F50DA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3FB9A7-7665-45CE-AE79-F73FEF87FB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009455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F72ACE-EFF8-AF3B-D87C-1CBB9DB558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1CC948B-5FF3-FC3E-B005-1EA55909681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1A6E1A2-A406-8045-ACBA-0F5F72EC97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72E7BD-C1BB-46F1-B277-8AE99D5C93A3}" type="datetimeFigureOut">
              <a:rPr lang="en-US" smtClean="0"/>
              <a:t>6/26/2022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9B344AA-599D-B591-CCF9-F5C7B75502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40287FD-BE21-21AA-6789-0FDDC875B6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3FB9A7-7665-45CE-AE79-F73FEF87FB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108265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09CD68B-E022-8BB0-786A-C8B7F9EB6B0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719E1AD-009A-9A78-67CD-D7B874264C4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AEE2BEF-8CBC-8DBA-8FCB-199F6E6DD1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72E7BD-C1BB-46F1-B277-8AE99D5C93A3}" type="datetimeFigureOut">
              <a:rPr lang="en-US" smtClean="0"/>
              <a:t>6/26/2022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89D9BB-00BF-1610-2A20-154066C53C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C81725-EEBF-C916-3A1B-1CFE4AD246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3FB9A7-7665-45CE-AE79-F73FEF87FB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03231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841750D-D8EB-6F7D-C3EE-2D20ADF43A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170BC56-7617-F598-24E3-74BA7B95EFB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68D0FD3-221E-F7B7-93E0-3B66B85F202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A72E7BD-C1BB-46F1-B277-8AE99D5C93A3}" type="datetimeFigureOut">
              <a:rPr lang="en-US" smtClean="0"/>
              <a:t>6/26/2022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D935B70-3517-88AD-0228-5E5448AB92E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821F37A-8A7F-CAB0-FCD4-834AEF98129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A3FB9A7-7665-45CE-AE79-F73FEF87FB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74937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hyperlink" Target="https://github.com/stemproaca/basemip" TargetMode="Externa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hyperlink" Target="https://github.com/stemproaca/basemip" TargetMode="Externa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git-scm.com/download/win" TargetMode="Externa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4.pn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9762D9-7C7C-B5F0-5954-BEF25A6623E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1122363"/>
            <a:ext cx="12192000" cy="2387600"/>
          </a:xfrm>
        </p:spPr>
        <p:txBody>
          <a:bodyPr>
            <a:normAutofit fontScale="90000"/>
          </a:bodyPr>
          <a:lstStyle/>
          <a:p>
            <a:r>
              <a:rPr lang="en-US" altLang="zh-CN" b="1" dirty="0"/>
              <a:t>Lesson</a:t>
            </a:r>
            <a:r>
              <a:rPr lang="en-US" b="1" dirty="0"/>
              <a:t> 01</a:t>
            </a:r>
            <a:br>
              <a:rPr lang="en-US" b="1" dirty="0"/>
            </a:br>
            <a:r>
              <a:rPr lang="en-US" b="1" dirty="0"/>
              <a:t>6/29/2022</a:t>
            </a:r>
            <a:br>
              <a:rPr lang="en-US" dirty="0"/>
            </a:br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F8FC9BB-9DB2-095C-1565-78DB9BCA5227}"/>
              </a:ext>
            </a:extLst>
          </p:cNvPr>
          <p:cNvSpPr txBox="1"/>
          <p:nvPr/>
        </p:nvSpPr>
        <p:spPr>
          <a:xfrm>
            <a:off x="9553903" y="0"/>
            <a:ext cx="263809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>
                <a:solidFill>
                  <a:schemeClr val="bg1">
                    <a:lumMod val="85000"/>
                  </a:schemeClr>
                </a:solidFill>
              </a:rPr>
              <a:t>Stem Pro Academy, 2022</a:t>
            </a:r>
            <a:endParaRPr lang="en-US" b="1" dirty="0">
              <a:solidFill>
                <a:schemeClr val="bg1">
                  <a:lumMod val="8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9856475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9762D9-7C7C-B5F0-5954-BEF25A6623E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481232"/>
            <a:ext cx="12192000" cy="674906"/>
          </a:xfrm>
        </p:spPr>
        <p:txBody>
          <a:bodyPr anchor="t">
            <a:noAutofit/>
          </a:bodyPr>
          <a:lstStyle/>
          <a:p>
            <a:pPr algn="l"/>
            <a:r>
              <a:rPr lang="en-US" altLang="zh-CN" sz="4000" b="1" dirty="0"/>
              <a:t>What are we going to do today</a:t>
            </a:r>
            <a:r>
              <a:rPr lang="en-US" sz="4000" b="1" dirty="0"/>
              <a:t>:</a:t>
            </a:r>
            <a:endParaRPr lang="en-US" sz="40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E655212-730A-0C73-FDFF-2AA1B81AC5A2}"/>
              </a:ext>
            </a:extLst>
          </p:cNvPr>
          <p:cNvSpPr txBox="1"/>
          <p:nvPr/>
        </p:nvSpPr>
        <p:spPr>
          <a:xfrm>
            <a:off x="9553903" y="0"/>
            <a:ext cx="263809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>
                <a:solidFill>
                  <a:schemeClr val="bg1">
                    <a:lumMod val="85000"/>
                  </a:schemeClr>
                </a:solidFill>
              </a:rPr>
              <a:t>Stem Pro Academy, 2022</a:t>
            </a:r>
            <a:endParaRPr lang="en-US" b="1" dirty="0">
              <a:solidFill>
                <a:schemeClr val="bg1">
                  <a:lumMod val="85000"/>
                </a:schemeClr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6FF4463-7484-1AF0-B42D-27C056E1F63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7697" y="1583614"/>
            <a:ext cx="10285966" cy="33544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733005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9762D9-7C7C-B5F0-5954-BEF25A6623E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481232"/>
            <a:ext cx="12192000" cy="674906"/>
          </a:xfrm>
        </p:spPr>
        <p:txBody>
          <a:bodyPr anchor="t">
            <a:noAutofit/>
          </a:bodyPr>
          <a:lstStyle/>
          <a:p>
            <a:pPr algn="l"/>
            <a:r>
              <a:rPr lang="en-US" altLang="zh-CN" sz="4000" b="1" dirty="0"/>
              <a:t>How do we do the lesson – Now and next two weeks </a:t>
            </a:r>
            <a:endParaRPr lang="en-US" sz="40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E655212-730A-0C73-FDFF-2AA1B81AC5A2}"/>
              </a:ext>
            </a:extLst>
          </p:cNvPr>
          <p:cNvSpPr txBox="1"/>
          <p:nvPr/>
        </p:nvSpPr>
        <p:spPr>
          <a:xfrm>
            <a:off x="9553903" y="0"/>
            <a:ext cx="263809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>
                <a:solidFill>
                  <a:schemeClr val="bg1">
                    <a:lumMod val="85000"/>
                  </a:schemeClr>
                </a:solidFill>
              </a:rPr>
              <a:t>Stem Pro Academy, 2022</a:t>
            </a:r>
            <a:endParaRPr lang="en-US" b="1" dirty="0"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6" name="Thought Bubble: Cloud 5">
            <a:extLst>
              <a:ext uri="{FF2B5EF4-FFF2-40B4-BE49-F238E27FC236}">
                <a16:creationId xmlns:a16="http://schemas.microsoft.com/office/drawing/2014/main" id="{B74A2A15-904A-B442-A63A-1041DE86D23C}"/>
              </a:ext>
            </a:extLst>
          </p:cNvPr>
          <p:cNvSpPr/>
          <p:nvPr/>
        </p:nvSpPr>
        <p:spPr>
          <a:xfrm>
            <a:off x="220715" y="1501665"/>
            <a:ext cx="2669628" cy="1248103"/>
          </a:xfrm>
          <a:prstGeom prst="cloudCallout">
            <a:avLst/>
          </a:prstGeom>
          <a:solidFill>
            <a:schemeClr val="bg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>
                <a:hlinkClick r:id="rId2"/>
              </a:rPr>
              <a:t>Github</a:t>
            </a:r>
            <a:endParaRPr lang="en-US" dirty="0"/>
          </a:p>
          <a:p>
            <a:pPr algn="ctr"/>
            <a:r>
              <a:rPr lang="en-US" dirty="0" err="1">
                <a:solidFill>
                  <a:srgbClr val="002060"/>
                </a:solidFill>
              </a:rPr>
              <a:t>basemip</a:t>
            </a:r>
            <a:endParaRPr lang="en-US" dirty="0">
              <a:solidFill>
                <a:srgbClr val="002060"/>
              </a:solidFill>
            </a:endParaRPr>
          </a:p>
        </p:txBody>
      </p:sp>
      <p:sp>
        <p:nvSpPr>
          <p:cNvPr id="7" name="Flowchart: Process 6">
            <a:extLst>
              <a:ext uri="{FF2B5EF4-FFF2-40B4-BE49-F238E27FC236}">
                <a16:creationId xmlns:a16="http://schemas.microsoft.com/office/drawing/2014/main" id="{30DB0B56-A838-2262-8AD5-B2C21139DBAF}"/>
              </a:ext>
            </a:extLst>
          </p:cNvPr>
          <p:cNvSpPr/>
          <p:nvPr/>
        </p:nvSpPr>
        <p:spPr>
          <a:xfrm>
            <a:off x="630618" y="4108233"/>
            <a:ext cx="2816773" cy="1072055"/>
          </a:xfrm>
          <a:prstGeom prst="flowChartProcess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Your</a:t>
            </a:r>
            <a:r>
              <a:rPr lang="zh-CN" altLang="en-US" dirty="0"/>
              <a:t> </a:t>
            </a:r>
            <a:r>
              <a:rPr lang="en-US" altLang="zh-CN" dirty="0"/>
              <a:t>local</a:t>
            </a:r>
            <a:r>
              <a:rPr lang="zh-CN" altLang="en-US" dirty="0"/>
              <a:t> </a:t>
            </a:r>
            <a:r>
              <a:rPr lang="en-US" altLang="zh-CN" dirty="0"/>
              <a:t>drive</a:t>
            </a:r>
          </a:p>
          <a:p>
            <a:pPr algn="ctr"/>
            <a:r>
              <a:rPr lang="en-US" dirty="0"/>
              <a:t>C:/basemip</a:t>
            </a:r>
          </a:p>
        </p:txBody>
      </p:sp>
      <p:sp>
        <p:nvSpPr>
          <p:cNvPr id="8" name="Thought Bubble: Cloud 7">
            <a:extLst>
              <a:ext uri="{FF2B5EF4-FFF2-40B4-BE49-F238E27FC236}">
                <a16:creationId xmlns:a16="http://schemas.microsoft.com/office/drawing/2014/main" id="{BF8EE65D-6AF3-E9A3-6A88-C263CBE366CE}"/>
              </a:ext>
            </a:extLst>
          </p:cNvPr>
          <p:cNvSpPr/>
          <p:nvPr/>
        </p:nvSpPr>
        <p:spPr>
          <a:xfrm>
            <a:off x="4030714" y="1501664"/>
            <a:ext cx="3578773" cy="1248103"/>
          </a:xfrm>
          <a:prstGeom prst="cloudCallout">
            <a:avLst/>
          </a:prstGeom>
          <a:solidFill>
            <a:schemeClr val="bg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002060"/>
                </a:solidFill>
              </a:rPr>
              <a:t>Your google Drive</a:t>
            </a:r>
          </a:p>
          <a:p>
            <a:pPr algn="ctr"/>
            <a:r>
              <a:rPr lang="en-US" dirty="0">
                <a:solidFill>
                  <a:srgbClr val="002060"/>
                </a:solidFill>
              </a:rPr>
              <a:t>Drive:/</a:t>
            </a:r>
            <a:r>
              <a:rPr lang="en-US" dirty="0" err="1">
                <a:solidFill>
                  <a:srgbClr val="002060"/>
                </a:solidFill>
              </a:rPr>
              <a:t>colab</a:t>
            </a:r>
            <a:r>
              <a:rPr lang="en-US" dirty="0">
                <a:solidFill>
                  <a:srgbClr val="002060"/>
                </a:solidFill>
              </a:rPr>
              <a:t> notebooks/lessons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2B47EA9D-0920-A49E-2250-981E71CC78DA}"/>
              </a:ext>
            </a:extLst>
          </p:cNvPr>
          <p:cNvCxnSpPr>
            <a:cxnSpLocks/>
            <a:endCxn id="7" idx="0"/>
          </p:cNvCxnSpPr>
          <p:nvPr/>
        </p:nvCxnSpPr>
        <p:spPr>
          <a:xfrm>
            <a:off x="1807779" y="2827283"/>
            <a:ext cx="231226" cy="1280950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1CAADE9A-59CB-20BE-3B30-87976867388C}"/>
              </a:ext>
            </a:extLst>
          </p:cNvPr>
          <p:cNvCxnSpPr>
            <a:cxnSpLocks/>
          </p:cNvCxnSpPr>
          <p:nvPr/>
        </p:nvCxnSpPr>
        <p:spPr>
          <a:xfrm flipV="1">
            <a:off x="2575033" y="2749102"/>
            <a:ext cx="2238705" cy="1359131"/>
          </a:xfrm>
          <a:prstGeom prst="straightConnector1">
            <a:avLst/>
          </a:prstGeom>
          <a:ln w="76200">
            <a:solidFill>
              <a:srgbClr val="00206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4" name="Picture 13">
            <a:extLst>
              <a:ext uri="{FF2B5EF4-FFF2-40B4-BE49-F238E27FC236}">
                <a16:creationId xmlns:a16="http://schemas.microsoft.com/office/drawing/2014/main" id="{DEC97C53-8B5E-33BC-45D6-6D39EECB0DF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65168" y="1249721"/>
            <a:ext cx="2538767" cy="1405134"/>
          </a:xfrm>
          <a:prstGeom prst="rect">
            <a:avLst/>
          </a:prstGeom>
        </p:spPr>
      </p:pic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8374C173-BB97-BF57-595A-9D95B31664C3}"/>
              </a:ext>
            </a:extLst>
          </p:cNvPr>
          <p:cNvCxnSpPr>
            <a:stCxn id="8" idx="2"/>
            <a:endCxn id="14" idx="1"/>
          </p:cNvCxnSpPr>
          <p:nvPr/>
        </p:nvCxnSpPr>
        <p:spPr>
          <a:xfrm flipV="1">
            <a:off x="7606505" y="1952288"/>
            <a:ext cx="1458663" cy="173428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AD3B8187-97C2-8014-9FD4-F2B205D0505C}"/>
              </a:ext>
            </a:extLst>
          </p:cNvPr>
          <p:cNvCxnSpPr/>
          <p:nvPr/>
        </p:nvCxnSpPr>
        <p:spPr>
          <a:xfrm flipH="1" flipV="1">
            <a:off x="1156138" y="2827283"/>
            <a:ext cx="210207" cy="1280950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054624CB-7C87-4AB3-A5B7-6673CC53F676}"/>
              </a:ext>
            </a:extLst>
          </p:cNvPr>
          <p:cNvSpPr txBox="1"/>
          <p:nvPr/>
        </p:nvSpPr>
        <p:spPr>
          <a:xfrm>
            <a:off x="3026979" y="3111062"/>
            <a:ext cx="12612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Upload</a:t>
            </a:r>
            <a:endParaRPr lang="en-US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03F0A18B-2E39-FED6-FD5B-BC26921C76FB}"/>
              </a:ext>
            </a:extLst>
          </p:cNvPr>
          <p:cNvSpPr txBox="1"/>
          <p:nvPr/>
        </p:nvSpPr>
        <p:spPr>
          <a:xfrm>
            <a:off x="1849820" y="3006963"/>
            <a:ext cx="12612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Pull</a:t>
            </a:r>
            <a:endParaRPr lang="en-US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4BEB56DA-BD43-CE00-F2B9-F805BA19A7D2}"/>
              </a:ext>
            </a:extLst>
          </p:cNvPr>
          <p:cNvSpPr txBox="1"/>
          <p:nvPr/>
        </p:nvSpPr>
        <p:spPr>
          <a:xfrm>
            <a:off x="572811" y="3191629"/>
            <a:ext cx="82506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Push</a:t>
            </a:r>
            <a:endParaRPr lang="en-US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FF402B66-2359-AE4A-EBBD-7A607C0BACC2}"/>
              </a:ext>
            </a:extLst>
          </p:cNvPr>
          <p:cNvSpPr txBox="1"/>
          <p:nvPr/>
        </p:nvSpPr>
        <p:spPr>
          <a:xfrm>
            <a:off x="7919545" y="1606762"/>
            <a:ext cx="12612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Open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4503773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9762D9-7C7C-B5F0-5954-BEF25A6623E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481232"/>
            <a:ext cx="12192000" cy="674906"/>
          </a:xfrm>
        </p:spPr>
        <p:txBody>
          <a:bodyPr anchor="t">
            <a:noAutofit/>
          </a:bodyPr>
          <a:lstStyle/>
          <a:p>
            <a:pPr algn="l"/>
            <a:r>
              <a:rPr lang="en-US" altLang="zh-CN" sz="4000" b="1" dirty="0"/>
              <a:t>How do we do the lesson – After our Anaconda works</a:t>
            </a:r>
            <a:endParaRPr lang="en-US" sz="40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E655212-730A-0C73-FDFF-2AA1B81AC5A2}"/>
              </a:ext>
            </a:extLst>
          </p:cNvPr>
          <p:cNvSpPr txBox="1"/>
          <p:nvPr/>
        </p:nvSpPr>
        <p:spPr>
          <a:xfrm>
            <a:off x="9553903" y="0"/>
            <a:ext cx="263809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>
                <a:solidFill>
                  <a:schemeClr val="bg1">
                    <a:lumMod val="85000"/>
                  </a:schemeClr>
                </a:solidFill>
              </a:rPr>
              <a:t>Stem Pro Academy, 2022</a:t>
            </a:r>
            <a:endParaRPr lang="en-US" b="1" dirty="0"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6" name="Thought Bubble: Cloud 5">
            <a:extLst>
              <a:ext uri="{FF2B5EF4-FFF2-40B4-BE49-F238E27FC236}">
                <a16:creationId xmlns:a16="http://schemas.microsoft.com/office/drawing/2014/main" id="{B74A2A15-904A-B442-A63A-1041DE86D23C}"/>
              </a:ext>
            </a:extLst>
          </p:cNvPr>
          <p:cNvSpPr/>
          <p:nvPr/>
        </p:nvSpPr>
        <p:spPr>
          <a:xfrm>
            <a:off x="4046482" y="1322825"/>
            <a:ext cx="2669628" cy="1248103"/>
          </a:xfrm>
          <a:prstGeom prst="cloudCallout">
            <a:avLst/>
          </a:prstGeom>
          <a:solidFill>
            <a:schemeClr val="bg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>
                <a:hlinkClick r:id="rId2"/>
              </a:rPr>
              <a:t>Github</a:t>
            </a:r>
            <a:endParaRPr lang="en-US" dirty="0"/>
          </a:p>
          <a:p>
            <a:pPr algn="ctr"/>
            <a:r>
              <a:rPr lang="en-US" dirty="0" err="1">
                <a:solidFill>
                  <a:srgbClr val="002060"/>
                </a:solidFill>
              </a:rPr>
              <a:t>basemip</a:t>
            </a:r>
            <a:endParaRPr lang="en-US" dirty="0">
              <a:solidFill>
                <a:srgbClr val="002060"/>
              </a:solidFill>
            </a:endParaRPr>
          </a:p>
        </p:txBody>
      </p:sp>
      <p:sp>
        <p:nvSpPr>
          <p:cNvPr id="7" name="Flowchart: Process 6">
            <a:extLst>
              <a:ext uri="{FF2B5EF4-FFF2-40B4-BE49-F238E27FC236}">
                <a16:creationId xmlns:a16="http://schemas.microsoft.com/office/drawing/2014/main" id="{30DB0B56-A838-2262-8AD5-B2C21139DBAF}"/>
              </a:ext>
            </a:extLst>
          </p:cNvPr>
          <p:cNvSpPr/>
          <p:nvPr/>
        </p:nvSpPr>
        <p:spPr>
          <a:xfrm>
            <a:off x="4046482" y="4287073"/>
            <a:ext cx="2816773" cy="1072055"/>
          </a:xfrm>
          <a:prstGeom prst="flowChartProcess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Your</a:t>
            </a:r>
            <a:r>
              <a:rPr lang="zh-CN" altLang="en-US" dirty="0"/>
              <a:t> </a:t>
            </a:r>
            <a:r>
              <a:rPr lang="en-US" altLang="zh-CN" dirty="0"/>
              <a:t>local</a:t>
            </a:r>
            <a:r>
              <a:rPr lang="zh-CN" altLang="en-US" dirty="0"/>
              <a:t> </a:t>
            </a:r>
            <a:r>
              <a:rPr lang="en-US" altLang="zh-CN" dirty="0"/>
              <a:t>drive</a:t>
            </a:r>
          </a:p>
          <a:p>
            <a:pPr algn="ctr"/>
            <a:r>
              <a:rPr lang="en-US" dirty="0"/>
              <a:t>C:/basemip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2B47EA9D-0920-A49E-2250-981E71CC78DA}"/>
              </a:ext>
            </a:extLst>
          </p:cNvPr>
          <p:cNvCxnSpPr>
            <a:cxnSpLocks/>
          </p:cNvCxnSpPr>
          <p:nvPr/>
        </p:nvCxnSpPr>
        <p:spPr>
          <a:xfrm>
            <a:off x="5801712" y="2749102"/>
            <a:ext cx="0" cy="1338857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AD3B8187-97C2-8014-9FD4-F2B205D0505C}"/>
              </a:ext>
            </a:extLst>
          </p:cNvPr>
          <p:cNvCxnSpPr>
            <a:cxnSpLocks/>
          </p:cNvCxnSpPr>
          <p:nvPr/>
        </p:nvCxnSpPr>
        <p:spPr>
          <a:xfrm flipV="1">
            <a:off x="5084380" y="2714853"/>
            <a:ext cx="0" cy="1373106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03F0A18B-2E39-FED6-FD5B-BC26921C76FB}"/>
              </a:ext>
            </a:extLst>
          </p:cNvPr>
          <p:cNvSpPr txBox="1"/>
          <p:nvPr/>
        </p:nvSpPr>
        <p:spPr>
          <a:xfrm>
            <a:off x="6174829" y="2749102"/>
            <a:ext cx="12612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Pull</a:t>
            </a:r>
            <a:endParaRPr lang="en-US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4BEB56DA-BD43-CE00-F2B9-F805BA19A7D2}"/>
              </a:ext>
            </a:extLst>
          </p:cNvPr>
          <p:cNvSpPr txBox="1"/>
          <p:nvPr/>
        </p:nvSpPr>
        <p:spPr>
          <a:xfrm>
            <a:off x="4259315" y="3032074"/>
            <a:ext cx="82506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Push</a:t>
            </a:r>
            <a:endParaRPr lang="en-US" dirty="0"/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30BAF1E5-63C9-DC46-995F-1EE2E5EE0DE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flipV="1">
            <a:off x="8177049" y="4287073"/>
            <a:ext cx="3064967" cy="1233462"/>
          </a:xfrm>
          <a:prstGeom prst="rect">
            <a:avLst/>
          </a:prstGeom>
        </p:spPr>
      </p:pic>
      <p:sp>
        <p:nvSpPr>
          <p:cNvPr id="26" name="TextBox 25">
            <a:extLst>
              <a:ext uri="{FF2B5EF4-FFF2-40B4-BE49-F238E27FC236}">
                <a16:creationId xmlns:a16="http://schemas.microsoft.com/office/drawing/2014/main" id="{8E24F5FF-DC6B-4641-98DE-D9AD4A75F14E}"/>
              </a:ext>
            </a:extLst>
          </p:cNvPr>
          <p:cNvSpPr txBox="1"/>
          <p:nvPr/>
        </p:nvSpPr>
        <p:spPr>
          <a:xfrm>
            <a:off x="8177049" y="3640742"/>
            <a:ext cx="232278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Work on your local computer</a:t>
            </a:r>
            <a:endParaRPr lang="en-US" dirty="0"/>
          </a:p>
        </p:txBody>
      </p: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58CC7595-23EA-62B4-5520-11D889663BED}"/>
              </a:ext>
            </a:extLst>
          </p:cNvPr>
          <p:cNvCxnSpPr>
            <a:cxnSpLocks/>
          </p:cNvCxnSpPr>
          <p:nvPr/>
        </p:nvCxnSpPr>
        <p:spPr>
          <a:xfrm flipH="1">
            <a:off x="6989379" y="4822535"/>
            <a:ext cx="1090448" cy="0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2901782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9762D9-7C7C-B5F0-5954-BEF25A6623E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653884"/>
            <a:ext cx="12192000" cy="6204115"/>
          </a:xfrm>
        </p:spPr>
        <p:txBody>
          <a:bodyPr anchor="t">
            <a:noAutofit/>
          </a:bodyPr>
          <a:lstStyle/>
          <a:p>
            <a:pPr algn="l"/>
            <a:r>
              <a:rPr lang="en-US" sz="4000" dirty="0"/>
              <a:t> 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F8FC07DB-6C5B-E007-0C64-780C4C57AF1F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12192000" cy="653885"/>
          </a:xfrm>
          <a:prstGeom prst="rect">
            <a:avLst/>
          </a:prstGeom>
          <a:solidFill>
            <a:srgbClr val="00B0F0"/>
          </a:solidFill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4000" dirty="0"/>
              <a:t>Environment: Git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BE7958B-78B5-68A0-046E-2095CF9795D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21435" y="1856202"/>
            <a:ext cx="3515467" cy="2725554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14E3DCB1-97A4-FA82-D198-52F00374752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7205" y="4404243"/>
            <a:ext cx="3067478" cy="714475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EEA81EF4-5F4A-4D98-7CB2-9EAD9EC2E48E}"/>
              </a:ext>
            </a:extLst>
          </p:cNvPr>
          <p:cNvSpPr txBox="1"/>
          <p:nvPr/>
        </p:nvSpPr>
        <p:spPr>
          <a:xfrm>
            <a:off x="275369" y="1504124"/>
            <a:ext cx="6206358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1). Download </a:t>
            </a:r>
          </a:p>
          <a:p>
            <a:r>
              <a:rPr lang="en-US" dirty="0">
                <a:hlinkClick r:id="rId4"/>
              </a:rPr>
              <a:t>https://git-scm.com/download/win</a:t>
            </a:r>
            <a:endParaRPr lang="en-US" dirty="0"/>
          </a:p>
          <a:p>
            <a:r>
              <a:rPr lang="en-US" dirty="0"/>
              <a:t>Choose 64 bit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7450A41-FD73-53FF-6BF7-40DA951D1FAE}"/>
              </a:ext>
            </a:extLst>
          </p:cNvPr>
          <p:cNvSpPr txBox="1"/>
          <p:nvPr/>
        </p:nvSpPr>
        <p:spPr>
          <a:xfrm>
            <a:off x="167638" y="3639021"/>
            <a:ext cx="620635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2). After downloading, you may see this in </a:t>
            </a:r>
          </a:p>
          <a:p>
            <a:r>
              <a:rPr lang="en-US" dirty="0"/>
              <a:t>Download  folder. Double click to install 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DC8C989-957D-FB9E-242E-7C93CD8D5232}"/>
              </a:ext>
            </a:extLst>
          </p:cNvPr>
          <p:cNvSpPr txBox="1"/>
          <p:nvPr/>
        </p:nvSpPr>
        <p:spPr>
          <a:xfrm>
            <a:off x="5585721" y="1399352"/>
            <a:ext cx="620635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3). Take all the pre-chosen options, e.g.: 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BD6CF87-A079-A395-A246-611DB7ACD977}"/>
              </a:ext>
            </a:extLst>
          </p:cNvPr>
          <p:cNvSpPr txBox="1"/>
          <p:nvPr/>
        </p:nvSpPr>
        <p:spPr>
          <a:xfrm>
            <a:off x="5380769" y="5228734"/>
            <a:ext cx="620635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4). installed</a:t>
            </a:r>
          </a:p>
        </p:txBody>
      </p:sp>
    </p:spTree>
    <p:extLst>
      <p:ext uri="{BB962C8B-B14F-4D97-AF65-F5344CB8AC3E}">
        <p14:creationId xmlns:p14="http://schemas.microsoft.com/office/powerpoint/2010/main" val="211418086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9762D9-7C7C-B5F0-5954-BEF25A6623E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653884"/>
            <a:ext cx="12192000" cy="6204115"/>
          </a:xfrm>
        </p:spPr>
        <p:txBody>
          <a:bodyPr anchor="t">
            <a:noAutofit/>
          </a:bodyPr>
          <a:lstStyle/>
          <a:p>
            <a:pPr algn="l"/>
            <a:r>
              <a:rPr lang="en-US" sz="4000" dirty="0"/>
              <a:t> 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F8FC07DB-6C5B-E007-0C64-780C4C57AF1F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12192000" cy="653885"/>
          </a:xfrm>
          <a:prstGeom prst="rect">
            <a:avLst/>
          </a:prstGeom>
          <a:solidFill>
            <a:srgbClr val="00B0F0"/>
          </a:solidFill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4000" dirty="0"/>
              <a:t>Environment: Connect to </a:t>
            </a:r>
            <a:r>
              <a:rPr lang="en-US" altLang="zh-CN" sz="4000" dirty="0"/>
              <a:t>repo</a:t>
            </a:r>
            <a:endParaRPr lang="en-US" sz="40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83BDDD1-C20E-81A2-F617-0DC04B2DA11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38096" y="1746906"/>
            <a:ext cx="7772400" cy="4786683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371D56D3-8FFF-F652-0BD7-440C06734334}"/>
              </a:ext>
            </a:extLst>
          </p:cNvPr>
          <p:cNvSpPr txBox="1"/>
          <p:nvPr/>
        </p:nvSpPr>
        <p:spPr>
          <a:xfrm>
            <a:off x="317938" y="823576"/>
            <a:ext cx="6206358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Follow exactly the sequence below. </a:t>
            </a:r>
          </a:p>
          <a:p>
            <a:r>
              <a:rPr lang="en-US" dirty="0"/>
              <a:t>If you have D: drive, ideally install at D:</a:t>
            </a:r>
          </a:p>
          <a:p>
            <a:r>
              <a:rPr lang="en-US" dirty="0"/>
              <a:t>But C is ok</a:t>
            </a:r>
          </a:p>
        </p:txBody>
      </p:sp>
    </p:spTree>
    <p:extLst>
      <p:ext uri="{BB962C8B-B14F-4D97-AF65-F5344CB8AC3E}">
        <p14:creationId xmlns:p14="http://schemas.microsoft.com/office/powerpoint/2010/main" val="233371465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9762D9-7C7C-B5F0-5954-BEF25A6623E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653884"/>
            <a:ext cx="12192000" cy="6204115"/>
          </a:xfrm>
        </p:spPr>
        <p:txBody>
          <a:bodyPr anchor="t">
            <a:noAutofit/>
          </a:bodyPr>
          <a:lstStyle/>
          <a:p>
            <a:pPr algn="l"/>
            <a:r>
              <a:rPr lang="en-US" sz="4000" dirty="0"/>
              <a:t> 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F8FC07DB-6C5B-E007-0C64-780C4C57AF1F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12192000" cy="653885"/>
          </a:xfrm>
          <a:prstGeom prst="rect">
            <a:avLst/>
          </a:prstGeom>
          <a:solidFill>
            <a:srgbClr val="00B0F0"/>
          </a:solidFill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4000" dirty="0"/>
              <a:t>Environment: Connect to </a:t>
            </a:r>
            <a:r>
              <a:rPr lang="en-US" altLang="zh-CN" sz="4000" dirty="0"/>
              <a:t>repo</a:t>
            </a:r>
            <a:endParaRPr lang="en-US" sz="40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71D56D3-8FFF-F652-0BD7-440C06734334}"/>
              </a:ext>
            </a:extLst>
          </p:cNvPr>
          <p:cNvSpPr txBox="1"/>
          <p:nvPr/>
        </p:nvSpPr>
        <p:spPr>
          <a:xfrm>
            <a:off x="317938" y="823576"/>
            <a:ext cx="6206358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Now you are connected with or repo. </a:t>
            </a:r>
          </a:p>
          <a:p>
            <a:r>
              <a:rPr lang="en-US" altLang="zh-CN" dirty="0"/>
              <a:t>Time to</a:t>
            </a:r>
            <a:r>
              <a:rPr lang="zh-CN" altLang="en-US" dirty="0"/>
              <a:t> </a:t>
            </a:r>
            <a:r>
              <a:rPr lang="en-US" altLang="zh-CN" dirty="0"/>
              <a:t>pull!</a:t>
            </a:r>
            <a:r>
              <a:rPr lang="zh-CN" altLang="en-US" dirty="0"/>
              <a:t> </a:t>
            </a:r>
            <a:endParaRPr lang="en-US" altLang="zh-CN" dirty="0"/>
          </a:p>
          <a:p>
            <a:r>
              <a:rPr lang="en-US" dirty="0"/>
              <a:t>What is pull? Pull 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BADB502-70BB-428E-DB51-5D5B28133FD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8986" y="1916597"/>
            <a:ext cx="6954220" cy="39057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895007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9762D9-7C7C-B5F0-5954-BEF25A6623E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653884"/>
            <a:ext cx="12192000" cy="6204115"/>
          </a:xfrm>
        </p:spPr>
        <p:txBody>
          <a:bodyPr anchor="t">
            <a:noAutofit/>
          </a:bodyPr>
          <a:lstStyle/>
          <a:p>
            <a:pPr algn="l"/>
            <a:r>
              <a:rPr lang="en-US" sz="4000" dirty="0"/>
              <a:t> 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F8FC07DB-6C5B-E007-0C64-780C4C57AF1F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12192000" cy="653885"/>
          </a:xfrm>
          <a:prstGeom prst="rect">
            <a:avLst/>
          </a:prstGeom>
          <a:solidFill>
            <a:srgbClr val="00B0F0"/>
          </a:solidFill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4000" dirty="0"/>
              <a:t>Environment: Connect to </a:t>
            </a:r>
            <a:r>
              <a:rPr lang="en-US" altLang="zh-CN" sz="4000" dirty="0"/>
              <a:t>repo</a:t>
            </a:r>
            <a:endParaRPr lang="en-US" sz="40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71D56D3-8FFF-F652-0BD7-440C06734334}"/>
              </a:ext>
            </a:extLst>
          </p:cNvPr>
          <p:cNvSpPr txBox="1"/>
          <p:nvPr/>
        </p:nvSpPr>
        <p:spPr>
          <a:xfrm>
            <a:off x="2272863" y="2557783"/>
            <a:ext cx="6206358" cy="1046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Lets </a:t>
            </a:r>
            <a:r>
              <a:rPr lang="en-US" sz="4400" dirty="0">
                <a:solidFill>
                  <a:srgbClr val="FF0000"/>
                </a:solidFill>
              </a:rPr>
              <a:t>stop</a:t>
            </a:r>
            <a:r>
              <a:rPr lang="en-US" dirty="0"/>
              <a:t> here. Next lesson we will learn “checkout” , “do something” and push?</a:t>
            </a:r>
          </a:p>
        </p:txBody>
      </p:sp>
    </p:spTree>
    <p:extLst>
      <p:ext uri="{BB962C8B-B14F-4D97-AF65-F5344CB8AC3E}">
        <p14:creationId xmlns:p14="http://schemas.microsoft.com/office/powerpoint/2010/main" val="18015500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9762D9-7C7C-B5F0-5954-BEF25A6623E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653884"/>
            <a:ext cx="12192000" cy="6204115"/>
          </a:xfrm>
        </p:spPr>
        <p:txBody>
          <a:bodyPr anchor="t">
            <a:noAutofit/>
          </a:bodyPr>
          <a:lstStyle/>
          <a:p>
            <a:pPr algn="l"/>
            <a:r>
              <a:rPr lang="en-US" sz="4000" dirty="0"/>
              <a:t> 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F8FC07DB-6C5B-E007-0C64-780C4C57AF1F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12192000" cy="653885"/>
          </a:xfrm>
          <a:prstGeom prst="rect">
            <a:avLst/>
          </a:prstGeom>
          <a:solidFill>
            <a:srgbClr val="00B0F0"/>
          </a:solidFill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4000" dirty="0"/>
              <a:t>Go to https://colab.research.google.com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2E95294-2063-9629-E41A-B1EAD25DB03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93127" y="1094044"/>
            <a:ext cx="8058350" cy="5491959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9D0F494D-4CEF-9B31-9ECF-626EE389E789}"/>
              </a:ext>
            </a:extLst>
          </p:cNvPr>
          <p:cNvSpPr txBox="1"/>
          <p:nvPr/>
        </p:nvSpPr>
        <p:spPr>
          <a:xfrm>
            <a:off x="590894" y="1875362"/>
            <a:ext cx="1911339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And Click </a:t>
            </a:r>
            <a:br>
              <a:rPr lang="en-US" dirty="0"/>
            </a:br>
            <a:r>
              <a:rPr lang="en-US" dirty="0"/>
              <a:t>“New </a:t>
            </a:r>
            <a:r>
              <a:rPr lang="en-US" altLang="zh-CN" dirty="0"/>
              <a:t>notebook”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What will this do?</a:t>
            </a:r>
          </a:p>
          <a:p>
            <a:endParaRPr lang="en-US" dirty="0"/>
          </a:p>
          <a:p>
            <a:r>
              <a:rPr lang="en-US" dirty="0"/>
              <a:t>If you are first time users of </a:t>
            </a:r>
            <a:r>
              <a:rPr lang="en-US" dirty="0" err="1"/>
              <a:t>colab</a:t>
            </a:r>
            <a:r>
              <a:rPr lang="en-US" dirty="0"/>
              <a:t>, it will create a folder in your google drive</a:t>
            </a:r>
          </a:p>
        </p:txBody>
      </p:sp>
    </p:spTree>
    <p:extLst>
      <p:ext uri="{BB962C8B-B14F-4D97-AF65-F5344CB8AC3E}">
        <p14:creationId xmlns:p14="http://schemas.microsoft.com/office/powerpoint/2010/main" val="315258940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9762D9-7C7C-B5F0-5954-BEF25A6623E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653884"/>
            <a:ext cx="12192000" cy="6204115"/>
          </a:xfrm>
        </p:spPr>
        <p:txBody>
          <a:bodyPr anchor="t">
            <a:noAutofit/>
          </a:bodyPr>
          <a:lstStyle/>
          <a:p>
            <a:pPr algn="l"/>
            <a:r>
              <a:rPr lang="en-US" sz="4000" dirty="0"/>
              <a:t> 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F8FC07DB-6C5B-E007-0C64-780C4C57AF1F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12192000" cy="653885"/>
          </a:xfrm>
          <a:prstGeom prst="rect">
            <a:avLst/>
          </a:prstGeom>
          <a:solidFill>
            <a:srgbClr val="00B0F0"/>
          </a:solidFill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4000" dirty="0"/>
              <a:t>Stay at colab.research.google.com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D0F494D-4CEF-9B31-9ECF-626EE389E789}"/>
              </a:ext>
            </a:extLst>
          </p:cNvPr>
          <p:cNvSpPr txBox="1"/>
          <p:nvPr/>
        </p:nvSpPr>
        <p:spPr>
          <a:xfrm>
            <a:off x="727529" y="653883"/>
            <a:ext cx="10644664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 </a:t>
            </a:r>
            <a:r>
              <a:rPr lang="en-US" altLang="zh-CN" dirty="0"/>
              <a:t>After you click, </a:t>
            </a:r>
          </a:p>
          <a:p>
            <a:r>
              <a:rPr lang="en-US" dirty="0"/>
              <a:t>A new </a:t>
            </a:r>
            <a:r>
              <a:rPr lang="en-US" dirty="0" err="1"/>
              <a:t>ipynb</a:t>
            </a:r>
            <a:r>
              <a:rPr lang="en-US" dirty="0"/>
              <a:t> will open up. </a:t>
            </a:r>
          </a:p>
          <a:p>
            <a:endParaRPr lang="en-US" dirty="0"/>
          </a:p>
          <a:p>
            <a:r>
              <a:rPr lang="en-US" dirty="0"/>
              <a:t>On the very first “Cell”, </a:t>
            </a:r>
          </a:p>
          <a:p>
            <a:r>
              <a:rPr lang="en-US" dirty="0"/>
              <a:t>Type “</a:t>
            </a:r>
          </a:p>
          <a:p>
            <a:r>
              <a:rPr lang="en-US" dirty="0"/>
              <a:t>From </a:t>
            </a:r>
            <a:r>
              <a:rPr lang="en-US" dirty="0" err="1"/>
              <a:t>google.colab</a:t>
            </a:r>
            <a:r>
              <a:rPr lang="en-US" dirty="0"/>
              <a:t> import drive</a:t>
            </a:r>
          </a:p>
          <a:p>
            <a:r>
              <a:rPr lang="en-US" dirty="0" err="1"/>
              <a:t>drive.mount</a:t>
            </a:r>
            <a:r>
              <a:rPr lang="en-US" dirty="0"/>
              <a:t>(</a:t>
            </a:r>
            <a:r>
              <a:rPr lang="zh-CN" altLang="en-US" dirty="0"/>
              <a:t>‘</a:t>
            </a:r>
            <a:r>
              <a:rPr lang="en-US" altLang="zh-CN" dirty="0"/>
              <a:t>/content/drive’)</a:t>
            </a:r>
          </a:p>
          <a:p>
            <a:endParaRPr lang="en-US" dirty="0"/>
          </a:p>
          <a:p>
            <a:r>
              <a:rPr lang="en-US" dirty="0"/>
              <a:t>Click the </a:t>
            </a:r>
            <a:r>
              <a:rPr lang="en-US" altLang="zh-CN" dirty="0"/>
              <a:t>arrow on the left. It will ask for permission to connect your drive. Grant it. Now your google drive is mounted. Aka, Connected. </a:t>
            </a:r>
            <a:r>
              <a:rPr lang="en-US" dirty="0"/>
              <a:t> 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BF79173-26EF-C8BF-FC6A-743CE5601A4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9807" y="3755941"/>
            <a:ext cx="9250066" cy="29341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119754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9762D9-7C7C-B5F0-5954-BEF25A6623E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653884"/>
            <a:ext cx="12192000" cy="6204115"/>
          </a:xfrm>
        </p:spPr>
        <p:txBody>
          <a:bodyPr anchor="t">
            <a:noAutofit/>
          </a:bodyPr>
          <a:lstStyle/>
          <a:p>
            <a:pPr algn="l"/>
            <a:r>
              <a:rPr lang="en-US" sz="4000" dirty="0"/>
              <a:t> 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F8FC07DB-6C5B-E007-0C64-780C4C57AF1F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12192000" cy="653885"/>
          </a:xfrm>
          <a:prstGeom prst="rect">
            <a:avLst/>
          </a:prstGeom>
          <a:solidFill>
            <a:srgbClr val="00B0F0"/>
          </a:solidFill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4000" dirty="0"/>
              <a:t>Go to https://drive.google.com/drive/u/0/my-drive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D0F494D-4CEF-9B31-9ECF-626EE389E789}"/>
              </a:ext>
            </a:extLst>
          </p:cNvPr>
          <p:cNvSpPr txBox="1"/>
          <p:nvPr/>
        </p:nvSpPr>
        <p:spPr>
          <a:xfrm>
            <a:off x="149459" y="1665156"/>
            <a:ext cx="191133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You should see </a:t>
            </a:r>
          </a:p>
          <a:p>
            <a:r>
              <a:rPr lang="en-US" dirty="0"/>
              <a:t>This: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61BC411-EF5A-7BB7-4346-76778CD88C7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35077" y="1215808"/>
            <a:ext cx="7081585" cy="50802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43510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F8FC07DB-6C5B-E007-0C64-780C4C57AF1F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12192000" cy="653885"/>
          </a:xfrm>
          <a:prstGeom prst="rect">
            <a:avLst/>
          </a:prstGeom>
          <a:solidFill>
            <a:srgbClr val="00B0F0"/>
          </a:solidFill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3600" dirty="0"/>
              <a:t>Stay with drive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E35B7C3-1D5B-20B4-317A-CB65A1AE6C5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45020" y="1954095"/>
            <a:ext cx="8650013" cy="4011791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818B15DC-EDAD-8893-1A3A-BDB374597441}"/>
              </a:ext>
            </a:extLst>
          </p:cNvPr>
          <p:cNvSpPr txBox="1"/>
          <p:nvPr/>
        </p:nvSpPr>
        <p:spPr>
          <a:xfrm>
            <a:off x="488731" y="868859"/>
            <a:ext cx="619059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800" dirty="0"/>
              <a:t>Now, create a folder under your drive’s </a:t>
            </a:r>
            <a:r>
              <a:rPr lang="en-US" sz="1800" dirty="0" err="1"/>
              <a:t>colab</a:t>
            </a:r>
            <a:r>
              <a:rPr lang="en-US" sz="1800" dirty="0"/>
              <a:t> notebooks folder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CF9476B-6A83-24A7-F03B-30E6CD99A037}"/>
              </a:ext>
            </a:extLst>
          </p:cNvPr>
          <p:cNvSpPr txBox="1"/>
          <p:nvPr/>
        </p:nvSpPr>
        <p:spPr>
          <a:xfrm>
            <a:off x="367862" y="1411477"/>
            <a:ext cx="619059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altLang="zh-CN" dirty="0"/>
              <a:t>Also upload the file you </a:t>
            </a:r>
            <a:r>
              <a:rPr lang="zh-CN" altLang="en-US" dirty="0"/>
              <a:t>“</a:t>
            </a:r>
            <a:r>
              <a:rPr lang="en-US" altLang="zh-CN" dirty="0"/>
              <a:t>pull” ed from our project rep. </a:t>
            </a:r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347206617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F8FC07DB-6C5B-E007-0C64-780C4C57AF1F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12192000" cy="653885"/>
          </a:xfrm>
          <a:prstGeom prst="rect">
            <a:avLst/>
          </a:prstGeom>
          <a:solidFill>
            <a:srgbClr val="00B0F0"/>
          </a:solidFill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3600" dirty="0"/>
              <a:t>Stay with drive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CF9476B-6A83-24A7-F03B-30E6CD99A037}"/>
              </a:ext>
            </a:extLst>
          </p:cNvPr>
          <p:cNvSpPr txBox="1"/>
          <p:nvPr/>
        </p:nvSpPr>
        <p:spPr>
          <a:xfrm>
            <a:off x="2648607" y="2262815"/>
            <a:ext cx="619059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altLang="zh-CN" dirty="0"/>
              <a:t>Click the file uploaded. </a:t>
            </a:r>
          </a:p>
          <a:p>
            <a:pPr algn="l"/>
            <a:r>
              <a:rPr lang="en-US" sz="1800" dirty="0"/>
              <a:t>We are ready to go!</a:t>
            </a:r>
          </a:p>
        </p:txBody>
      </p:sp>
    </p:spTree>
    <p:extLst>
      <p:ext uri="{BB962C8B-B14F-4D97-AF65-F5344CB8AC3E}">
        <p14:creationId xmlns:p14="http://schemas.microsoft.com/office/powerpoint/2010/main" val="279860590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9762D9-7C7C-B5F0-5954-BEF25A6623E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82123"/>
            <a:ext cx="12192000" cy="674906"/>
          </a:xfrm>
        </p:spPr>
        <p:txBody>
          <a:bodyPr anchor="t">
            <a:noAutofit/>
          </a:bodyPr>
          <a:lstStyle/>
          <a:p>
            <a:pPr algn="l"/>
            <a:r>
              <a:rPr lang="en-US" sz="4000" b="1" dirty="0"/>
              <a:t>Objectives:</a:t>
            </a:r>
            <a:endParaRPr lang="en-US" sz="40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E655212-730A-0C73-FDFF-2AA1B81AC5A2}"/>
              </a:ext>
            </a:extLst>
          </p:cNvPr>
          <p:cNvSpPr txBox="1"/>
          <p:nvPr/>
        </p:nvSpPr>
        <p:spPr>
          <a:xfrm>
            <a:off x="9553903" y="0"/>
            <a:ext cx="263809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>
                <a:solidFill>
                  <a:schemeClr val="bg1">
                    <a:lumMod val="85000"/>
                  </a:schemeClr>
                </a:solidFill>
              </a:rPr>
              <a:t>Stem Pro Academy, 2022</a:t>
            </a:r>
            <a:endParaRPr lang="en-US" b="1" dirty="0">
              <a:solidFill>
                <a:schemeClr val="bg1">
                  <a:lumMod val="85000"/>
                </a:schemeClr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F7EBE3D-2906-91F9-A2FD-13FC0B21EE1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7592" y="1828800"/>
            <a:ext cx="4846694" cy="298924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ABE6E1B3-4EE4-5FE7-F665-F3FB16BAD3C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61877" y="184666"/>
            <a:ext cx="6830123" cy="295972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7F11AC67-DEDB-EBFE-8C4B-292D1FB00FB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56166" y="3581203"/>
            <a:ext cx="5958278" cy="3092131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C528D4CD-6A4E-C50A-E489-C84D105A8256}"/>
              </a:ext>
            </a:extLst>
          </p:cNvPr>
          <p:cNvSpPr txBox="1"/>
          <p:nvPr/>
        </p:nvSpPr>
        <p:spPr>
          <a:xfrm>
            <a:off x="257592" y="1367135"/>
            <a:ext cx="432491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Programming and Math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F45F0A3-C377-B640-F3BE-B95F8CBD0F74}"/>
              </a:ext>
            </a:extLst>
          </p:cNvPr>
          <p:cNvSpPr txBox="1"/>
          <p:nvPr/>
        </p:nvSpPr>
        <p:spPr>
          <a:xfrm>
            <a:off x="6215087" y="3019051"/>
            <a:ext cx="404301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2400" dirty="0"/>
              <a:t>AI and Math (key concepts)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D646891-BA91-01C0-1618-4212E326DECE}"/>
              </a:ext>
            </a:extLst>
          </p:cNvPr>
          <p:cNvSpPr txBox="1"/>
          <p:nvPr/>
        </p:nvSpPr>
        <p:spPr>
          <a:xfrm>
            <a:off x="3104024" y="5490708"/>
            <a:ext cx="255214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2400" dirty="0"/>
              <a:t>Project and Implementation</a:t>
            </a:r>
          </a:p>
        </p:txBody>
      </p:sp>
    </p:spTree>
    <p:extLst>
      <p:ext uri="{BB962C8B-B14F-4D97-AF65-F5344CB8AC3E}">
        <p14:creationId xmlns:p14="http://schemas.microsoft.com/office/powerpoint/2010/main" val="304087866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8DD76AB5-9BE5-F947-7122-4933C2C4A36C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12192000" cy="653885"/>
          </a:xfrm>
          <a:prstGeom prst="rect">
            <a:avLst/>
          </a:prstGeom>
          <a:solidFill>
            <a:srgbClr val="00B0F0"/>
          </a:solidFill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4000" dirty="0"/>
              <a:t>Homework</a:t>
            </a: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4A257939-EE7F-515B-094E-F135A329902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3269" y="717647"/>
            <a:ext cx="11834648" cy="426461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253920" tIns="31740" rIns="0" bIns="15870" numCol="1" anchor="ctr" anchorCtr="0" compatLnSpc="1">
            <a:prstTxWarp prst="textNoShape">
              <a:avLst/>
            </a:prstTxWarp>
            <a:spAutoFit/>
          </a:bodyPr>
          <a:lstStyle/>
          <a:p>
            <a:pPr marL="457200" marR="0" lvl="0" indent="-45720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Env Ready and Running. We have a short warm up. Let’s get ready by Saturday</a:t>
            </a:r>
          </a:p>
          <a:p>
            <a:pPr marL="800100" lvl="1" indent="-3429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à"/>
            </a:pP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Tomorrow</a:t>
            </a:r>
            <a:r>
              <a:rPr lang="en-US" altLang="en-US" sz="20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 (6/23 tutoring at 5:30 PT)</a:t>
            </a:r>
            <a:r>
              <a:rPr lang="en-US" altLang="en-US" sz="2000" b="1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	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endParaRPr lang="en-US" altLang="en-US" sz="2000" b="1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000" b="1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2. Choose a university of your interests, read its Wiki Page (and its website if you have time) </a:t>
            </a:r>
          </a:p>
          <a:p>
            <a:pPr marL="800100" lvl="1" indent="-3429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à"/>
            </a:pPr>
            <a:r>
              <a:rPr lang="en-US" altLang="en-US" sz="20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Write a short summary (&lt;50 words) </a:t>
            </a: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endParaRPr kumimoji="0" lang="en-US" altLang="en-US" sz="2000" b="1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R="0" lvl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altLang="en-US" sz="2000" b="1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3. Review Session_01_code.ipynb</a:t>
            </a:r>
          </a:p>
          <a:p>
            <a:pPr marL="800100" lvl="1" indent="-3429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à"/>
            </a:pP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A: Summarize the python concepts that we learned today. E.g., “We learned list data type…” </a:t>
            </a: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0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         Bonus points to summarization with a daily life example. </a:t>
            </a: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endParaRPr kumimoji="0" lang="en-US" altLang="en-US" sz="200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marL="800100" lvl="1" indent="-3429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à"/>
            </a:pPr>
            <a:r>
              <a:rPr lang="en-US" altLang="en-US" sz="20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B. Choose a part to replicate (Part A, B, or C). E.g., you may choose to scrape a new page etc. </a:t>
            </a: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	   Remember: same difficulty or more challenging one</a:t>
            </a:r>
            <a:endParaRPr kumimoji="0" lang="en-US" altLang="en-US" sz="200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R="0" lvl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rgbClr val="222222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ED9C704-2DCE-3569-261D-0B7EACA4EEE7}"/>
              </a:ext>
            </a:extLst>
          </p:cNvPr>
          <p:cNvSpPr txBox="1"/>
          <p:nvPr/>
        </p:nvSpPr>
        <p:spPr>
          <a:xfrm>
            <a:off x="178675" y="5606534"/>
            <a:ext cx="1183464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All homework due in one week. </a:t>
            </a:r>
          </a:p>
          <a:p>
            <a:r>
              <a:rPr lang="en-US" b="1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All homework in </a:t>
            </a:r>
            <a:r>
              <a:rPr lang="en-US" b="1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Jupyter</a:t>
            </a:r>
            <a:r>
              <a:rPr lang="en-US" b="1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 notebook. For text content, use Markdown cells.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025569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8DD76AB5-9BE5-F947-7122-4933C2C4A36C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12192000" cy="653885"/>
          </a:xfrm>
          <a:prstGeom prst="rect">
            <a:avLst/>
          </a:prstGeom>
          <a:solidFill>
            <a:srgbClr val="00B0F0"/>
          </a:solidFill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4000" dirty="0"/>
              <a:t>Survey and Feedback</a:t>
            </a: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4A257939-EE7F-515B-094E-F135A329902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3269" y="2564306"/>
            <a:ext cx="11834648" cy="57129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253920" tIns="31740" rIns="0" bIns="1587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rgbClr val="222222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AAD69BF-889E-C96D-B21C-B3324B95CE9E}"/>
              </a:ext>
            </a:extLst>
          </p:cNvPr>
          <p:cNvSpPr txBox="1"/>
          <p:nvPr/>
        </p:nvSpPr>
        <p:spPr>
          <a:xfrm>
            <a:off x="735723" y="1008993"/>
            <a:ext cx="9595945" cy="59093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Content: </a:t>
            </a:r>
          </a:p>
          <a:p>
            <a:r>
              <a:rPr lang="en-US" dirty="0"/>
              <a:t>	Too easy</a:t>
            </a:r>
          </a:p>
          <a:p>
            <a:r>
              <a:rPr lang="en-US" dirty="0"/>
              <a:t>	too hard</a:t>
            </a:r>
          </a:p>
          <a:p>
            <a:r>
              <a:rPr lang="en-US" dirty="0"/>
              <a:t>	it is ok</a:t>
            </a:r>
          </a:p>
          <a:p>
            <a:endParaRPr lang="en-US" dirty="0"/>
          </a:p>
          <a:p>
            <a:r>
              <a:rPr lang="en-US" dirty="0"/>
              <a:t>Pace: </a:t>
            </a:r>
          </a:p>
          <a:p>
            <a:r>
              <a:rPr lang="en-US" dirty="0"/>
              <a:t>	Too fast</a:t>
            </a:r>
          </a:p>
          <a:p>
            <a:r>
              <a:rPr lang="en-US" dirty="0"/>
              <a:t>	too slow</a:t>
            </a:r>
          </a:p>
          <a:p>
            <a:r>
              <a:rPr lang="en-US" dirty="0"/>
              <a:t>	it is ok</a:t>
            </a:r>
          </a:p>
          <a:p>
            <a:endParaRPr lang="en-US" dirty="0"/>
          </a:p>
          <a:p>
            <a:r>
              <a:rPr lang="en-US" dirty="0"/>
              <a:t>Homework: </a:t>
            </a:r>
          </a:p>
          <a:p>
            <a:r>
              <a:rPr lang="en-US" dirty="0"/>
              <a:t>	Too much</a:t>
            </a:r>
          </a:p>
          <a:p>
            <a:r>
              <a:rPr lang="en-US" dirty="0"/>
              <a:t>	I can handle more</a:t>
            </a:r>
          </a:p>
          <a:p>
            <a:r>
              <a:rPr lang="en-US" dirty="0"/>
              <a:t>	it is ok</a:t>
            </a:r>
          </a:p>
          <a:p>
            <a:endParaRPr lang="en-US" dirty="0"/>
          </a:p>
          <a:p>
            <a:r>
              <a:rPr lang="en-US" dirty="0"/>
              <a:t>Other feedback: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1093915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6084</TotalTime>
  <Words>631</Words>
  <Application>Microsoft Office PowerPoint</Application>
  <PresentationFormat>Widescreen</PresentationFormat>
  <Paragraphs>116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1" baseType="lpstr">
      <vt:lpstr>Arial</vt:lpstr>
      <vt:lpstr>Calibri</vt:lpstr>
      <vt:lpstr>Calibri Light</vt:lpstr>
      <vt:lpstr>Wingdings</vt:lpstr>
      <vt:lpstr>Office Theme</vt:lpstr>
      <vt:lpstr>Lesson 01 6/29/2022 </vt:lpstr>
      <vt:lpstr>What are we going to do today:</vt:lpstr>
      <vt:lpstr>How do we do the lesson – Now and next two weeks </vt:lpstr>
      <vt:lpstr>How do we do the lesson – After our Anaconda works</vt:lpstr>
      <vt:lpstr> </vt:lpstr>
      <vt:lpstr> </vt:lpstr>
      <vt:lpstr> </vt:lpstr>
      <vt:lpstr> </vt:lpstr>
      <vt:lpstr> </vt:lpstr>
      <vt:lpstr> </vt:lpstr>
      <vt:lpstr> </vt:lpstr>
      <vt:lpstr>PowerPoint Presentation</vt:lpstr>
      <vt:lpstr>PowerPoint Presentation</vt:lpstr>
      <vt:lpstr>Objectives: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Welcome and Thank You for Choosing Us for This Journey</dc:title>
  <dc:creator>Stempro Academy</dc:creator>
  <cp:lastModifiedBy>Stempro Academy</cp:lastModifiedBy>
  <cp:revision>28</cp:revision>
  <dcterms:created xsi:type="dcterms:W3CDTF">2022-06-16T15:05:39Z</dcterms:created>
  <dcterms:modified xsi:type="dcterms:W3CDTF">2022-06-26T20:17:23Z</dcterms:modified>
</cp:coreProperties>
</file>