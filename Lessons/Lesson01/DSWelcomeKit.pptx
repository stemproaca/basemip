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68" r:id="rId5"/>
    <p:sldId id="257" r:id="rId6"/>
    <p:sldId id="260" r:id="rId7"/>
    <p:sldId id="267" r:id="rId8"/>
    <p:sldId id="261" r:id="rId9"/>
    <p:sldId id="269" r:id="rId10"/>
    <p:sldId id="270" r:id="rId11"/>
    <p:sldId id="259"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121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3E1F2-78A4-3B13-AB95-7F308AAC25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9E8D13-F41A-CAAB-CEF2-B79CEFD6D1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FC53132-E22E-D5BF-1C16-8E4980E6879A}"/>
              </a:ext>
            </a:extLst>
          </p:cNvPr>
          <p:cNvSpPr>
            <a:spLocks noGrp="1"/>
          </p:cNvSpPr>
          <p:nvPr>
            <p:ph type="dt" sz="half" idx="10"/>
          </p:nvPr>
        </p:nvSpPr>
        <p:spPr/>
        <p:txBody>
          <a:bodyPr/>
          <a:lstStyle/>
          <a:p>
            <a:fld id="{EA72E7BD-C1BB-46F1-B277-8AE99D5C93A3}" type="datetimeFigureOut">
              <a:rPr lang="en-US" smtClean="0"/>
              <a:t>6/29/2022</a:t>
            </a:fld>
            <a:endParaRPr lang="en-US"/>
          </a:p>
        </p:txBody>
      </p:sp>
      <p:sp>
        <p:nvSpPr>
          <p:cNvPr id="5" name="Footer Placeholder 4">
            <a:extLst>
              <a:ext uri="{FF2B5EF4-FFF2-40B4-BE49-F238E27FC236}">
                <a16:creationId xmlns:a16="http://schemas.microsoft.com/office/drawing/2014/main" id="{15159FE3-16D7-52FF-C472-EE20657554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A39434-558B-3A1C-AE43-2C6343D4855E}"/>
              </a:ext>
            </a:extLst>
          </p:cNvPr>
          <p:cNvSpPr>
            <a:spLocks noGrp="1"/>
          </p:cNvSpPr>
          <p:nvPr>
            <p:ph type="sldNum" sz="quarter" idx="12"/>
          </p:nvPr>
        </p:nvSpPr>
        <p:spPr/>
        <p:txBody>
          <a:bodyPr/>
          <a:lstStyle/>
          <a:p>
            <a:fld id="{8A3FB9A7-7665-45CE-AE79-F73FEF87FBC9}" type="slidenum">
              <a:rPr lang="en-US" smtClean="0"/>
              <a:t>‹#›</a:t>
            </a:fld>
            <a:endParaRPr lang="en-US"/>
          </a:p>
        </p:txBody>
      </p:sp>
    </p:spTree>
    <p:extLst>
      <p:ext uri="{BB962C8B-B14F-4D97-AF65-F5344CB8AC3E}">
        <p14:creationId xmlns:p14="http://schemas.microsoft.com/office/powerpoint/2010/main" val="538637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7236F-2AC6-C12D-5D39-E522A6B9E8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A8E49D-6EBF-29AB-4390-03B8AB805D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536906-F511-1C31-3A1C-0F1E54310152}"/>
              </a:ext>
            </a:extLst>
          </p:cNvPr>
          <p:cNvSpPr>
            <a:spLocks noGrp="1"/>
          </p:cNvSpPr>
          <p:nvPr>
            <p:ph type="dt" sz="half" idx="10"/>
          </p:nvPr>
        </p:nvSpPr>
        <p:spPr/>
        <p:txBody>
          <a:bodyPr/>
          <a:lstStyle/>
          <a:p>
            <a:fld id="{EA72E7BD-C1BB-46F1-B277-8AE99D5C93A3}" type="datetimeFigureOut">
              <a:rPr lang="en-US" smtClean="0"/>
              <a:t>6/29/2022</a:t>
            </a:fld>
            <a:endParaRPr lang="en-US"/>
          </a:p>
        </p:txBody>
      </p:sp>
      <p:sp>
        <p:nvSpPr>
          <p:cNvPr id="5" name="Footer Placeholder 4">
            <a:extLst>
              <a:ext uri="{FF2B5EF4-FFF2-40B4-BE49-F238E27FC236}">
                <a16:creationId xmlns:a16="http://schemas.microsoft.com/office/drawing/2014/main" id="{9E081E70-BE46-DF02-B7EE-3C60B1D2E8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9D5001-61BA-A93F-9437-AAE45C874ADC}"/>
              </a:ext>
            </a:extLst>
          </p:cNvPr>
          <p:cNvSpPr>
            <a:spLocks noGrp="1"/>
          </p:cNvSpPr>
          <p:nvPr>
            <p:ph type="sldNum" sz="quarter" idx="12"/>
          </p:nvPr>
        </p:nvSpPr>
        <p:spPr/>
        <p:txBody>
          <a:bodyPr/>
          <a:lstStyle/>
          <a:p>
            <a:fld id="{8A3FB9A7-7665-45CE-AE79-F73FEF87FBC9}" type="slidenum">
              <a:rPr lang="en-US" smtClean="0"/>
              <a:t>‹#›</a:t>
            </a:fld>
            <a:endParaRPr lang="en-US"/>
          </a:p>
        </p:txBody>
      </p:sp>
    </p:spTree>
    <p:extLst>
      <p:ext uri="{BB962C8B-B14F-4D97-AF65-F5344CB8AC3E}">
        <p14:creationId xmlns:p14="http://schemas.microsoft.com/office/powerpoint/2010/main" val="1890487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502C7-0520-A6CE-5A62-9BB531628C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AC26CF6-1DC9-2128-B5FC-4A79F933DD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4EC251-F4B6-C849-532B-0B04C066BA88}"/>
              </a:ext>
            </a:extLst>
          </p:cNvPr>
          <p:cNvSpPr>
            <a:spLocks noGrp="1"/>
          </p:cNvSpPr>
          <p:nvPr>
            <p:ph type="dt" sz="half" idx="10"/>
          </p:nvPr>
        </p:nvSpPr>
        <p:spPr/>
        <p:txBody>
          <a:bodyPr/>
          <a:lstStyle/>
          <a:p>
            <a:fld id="{EA72E7BD-C1BB-46F1-B277-8AE99D5C93A3}" type="datetimeFigureOut">
              <a:rPr lang="en-US" smtClean="0"/>
              <a:t>6/29/2022</a:t>
            </a:fld>
            <a:endParaRPr lang="en-US"/>
          </a:p>
        </p:txBody>
      </p:sp>
      <p:sp>
        <p:nvSpPr>
          <p:cNvPr id="5" name="Footer Placeholder 4">
            <a:extLst>
              <a:ext uri="{FF2B5EF4-FFF2-40B4-BE49-F238E27FC236}">
                <a16:creationId xmlns:a16="http://schemas.microsoft.com/office/drawing/2014/main" id="{3655B787-2E21-332E-B535-83AF64D2ED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7ACB9F-CE02-D187-0D37-7DF140340927}"/>
              </a:ext>
            </a:extLst>
          </p:cNvPr>
          <p:cNvSpPr>
            <a:spLocks noGrp="1"/>
          </p:cNvSpPr>
          <p:nvPr>
            <p:ph type="sldNum" sz="quarter" idx="12"/>
          </p:nvPr>
        </p:nvSpPr>
        <p:spPr/>
        <p:txBody>
          <a:bodyPr/>
          <a:lstStyle/>
          <a:p>
            <a:fld id="{8A3FB9A7-7665-45CE-AE79-F73FEF87FBC9}" type="slidenum">
              <a:rPr lang="en-US" smtClean="0"/>
              <a:t>‹#›</a:t>
            </a:fld>
            <a:endParaRPr lang="en-US"/>
          </a:p>
        </p:txBody>
      </p:sp>
    </p:spTree>
    <p:extLst>
      <p:ext uri="{BB962C8B-B14F-4D97-AF65-F5344CB8AC3E}">
        <p14:creationId xmlns:p14="http://schemas.microsoft.com/office/powerpoint/2010/main" val="2943721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9E31A-F617-CC8E-543A-8C177A1B1F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98BA6D-560A-E467-66A7-3E74FFA7FD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67FA88-C53C-6783-5933-C580146D6BD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802EFE-E890-F30A-829C-CFF5F091227E}"/>
              </a:ext>
            </a:extLst>
          </p:cNvPr>
          <p:cNvSpPr>
            <a:spLocks noGrp="1"/>
          </p:cNvSpPr>
          <p:nvPr>
            <p:ph type="dt" sz="half" idx="10"/>
          </p:nvPr>
        </p:nvSpPr>
        <p:spPr/>
        <p:txBody>
          <a:bodyPr/>
          <a:lstStyle/>
          <a:p>
            <a:fld id="{EA72E7BD-C1BB-46F1-B277-8AE99D5C93A3}" type="datetimeFigureOut">
              <a:rPr lang="en-US" smtClean="0"/>
              <a:t>6/29/2022</a:t>
            </a:fld>
            <a:endParaRPr lang="en-US"/>
          </a:p>
        </p:txBody>
      </p:sp>
      <p:sp>
        <p:nvSpPr>
          <p:cNvPr id="6" name="Footer Placeholder 5">
            <a:extLst>
              <a:ext uri="{FF2B5EF4-FFF2-40B4-BE49-F238E27FC236}">
                <a16:creationId xmlns:a16="http://schemas.microsoft.com/office/drawing/2014/main" id="{072A3017-8A38-5A21-927F-8116892A21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3D48BE-44D2-6C93-3C00-69AE1707B914}"/>
              </a:ext>
            </a:extLst>
          </p:cNvPr>
          <p:cNvSpPr>
            <a:spLocks noGrp="1"/>
          </p:cNvSpPr>
          <p:nvPr>
            <p:ph type="sldNum" sz="quarter" idx="12"/>
          </p:nvPr>
        </p:nvSpPr>
        <p:spPr/>
        <p:txBody>
          <a:bodyPr/>
          <a:lstStyle/>
          <a:p>
            <a:fld id="{8A3FB9A7-7665-45CE-AE79-F73FEF87FBC9}" type="slidenum">
              <a:rPr lang="en-US" smtClean="0"/>
              <a:t>‹#›</a:t>
            </a:fld>
            <a:endParaRPr lang="en-US"/>
          </a:p>
        </p:txBody>
      </p:sp>
    </p:spTree>
    <p:extLst>
      <p:ext uri="{BB962C8B-B14F-4D97-AF65-F5344CB8AC3E}">
        <p14:creationId xmlns:p14="http://schemas.microsoft.com/office/powerpoint/2010/main" val="2690265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A787F-3DD8-D819-E1B5-1E7F584FDA7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7C3F4DE-91C5-1863-D4BF-6DE492C537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F193A2-8269-10FB-A656-2BBF92FB19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4EFBC43-FF9B-72C0-EB11-DFB3B706EB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4ED75F-DD95-9307-DD64-4078835952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1219C7-8137-D431-4FB8-A78739FD1BD3}"/>
              </a:ext>
            </a:extLst>
          </p:cNvPr>
          <p:cNvSpPr>
            <a:spLocks noGrp="1"/>
          </p:cNvSpPr>
          <p:nvPr>
            <p:ph type="dt" sz="half" idx="10"/>
          </p:nvPr>
        </p:nvSpPr>
        <p:spPr/>
        <p:txBody>
          <a:bodyPr/>
          <a:lstStyle/>
          <a:p>
            <a:fld id="{EA72E7BD-C1BB-46F1-B277-8AE99D5C93A3}" type="datetimeFigureOut">
              <a:rPr lang="en-US" smtClean="0"/>
              <a:t>6/29/2022</a:t>
            </a:fld>
            <a:endParaRPr lang="en-US"/>
          </a:p>
        </p:txBody>
      </p:sp>
      <p:sp>
        <p:nvSpPr>
          <p:cNvPr id="8" name="Footer Placeholder 7">
            <a:extLst>
              <a:ext uri="{FF2B5EF4-FFF2-40B4-BE49-F238E27FC236}">
                <a16:creationId xmlns:a16="http://schemas.microsoft.com/office/drawing/2014/main" id="{5AFA7F1A-D932-5D82-F902-9BA71A0D86E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D025AA-F95A-87A7-AE3B-D9A54029E15C}"/>
              </a:ext>
            </a:extLst>
          </p:cNvPr>
          <p:cNvSpPr>
            <a:spLocks noGrp="1"/>
          </p:cNvSpPr>
          <p:nvPr>
            <p:ph type="sldNum" sz="quarter" idx="12"/>
          </p:nvPr>
        </p:nvSpPr>
        <p:spPr/>
        <p:txBody>
          <a:bodyPr/>
          <a:lstStyle/>
          <a:p>
            <a:fld id="{8A3FB9A7-7665-45CE-AE79-F73FEF87FBC9}" type="slidenum">
              <a:rPr lang="en-US" smtClean="0"/>
              <a:t>‹#›</a:t>
            </a:fld>
            <a:endParaRPr lang="en-US"/>
          </a:p>
        </p:txBody>
      </p:sp>
    </p:spTree>
    <p:extLst>
      <p:ext uri="{BB962C8B-B14F-4D97-AF65-F5344CB8AC3E}">
        <p14:creationId xmlns:p14="http://schemas.microsoft.com/office/powerpoint/2010/main" val="600123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CB163-E0DB-5DB0-E851-69DC566C5DD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DB2AB2-75A8-1BBF-06EC-52129DDBB580}"/>
              </a:ext>
            </a:extLst>
          </p:cNvPr>
          <p:cNvSpPr>
            <a:spLocks noGrp="1"/>
          </p:cNvSpPr>
          <p:nvPr>
            <p:ph type="dt" sz="half" idx="10"/>
          </p:nvPr>
        </p:nvSpPr>
        <p:spPr/>
        <p:txBody>
          <a:bodyPr/>
          <a:lstStyle/>
          <a:p>
            <a:fld id="{EA72E7BD-C1BB-46F1-B277-8AE99D5C93A3}" type="datetimeFigureOut">
              <a:rPr lang="en-US" smtClean="0"/>
              <a:t>6/29/2022</a:t>
            </a:fld>
            <a:endParaRPr lang="en-US"/>
          </a:p>
        </p:txBody>
      </p:sp>
      <p:sp>
        <p:nvSpPr>
          <p:cNvPr id="4" name="Footer Placeholder 3">
            <a:extLst>
              <a:ext uri="{FF2B5EF4-FFF2-40B4-BE49-F238E27FC236}">
                <a16:creationId xmlns:a16="http://schemas.microsoft.com/office/drawing/2014/main" id="{517D158F-2A15-E787-4064-6B2CB0BFBDF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40F1C06-E8C0-E44D-66D2-BA8370F81C32}"/>
              </a:ext>
            </a:extLst>
          </p:cNvPr>
          <p:cNvSpPr>
            <a:spLocks noGrp="1"/>
          </p:cNvSpPr>
          <p:nvPr>
            <p:ph type="sldNum" sz="quarter" idx="12"/>
          </p:nvPr>
        </p:nvSpPr>
        <p:spPr/>
        <p:txBody>
          <a:bodyPr/>
          <a:lstStyle/>
          <a:p>
            <a:fld id="{8A3FB9A7-7665-45CE-AE79-F73FEF87FBC9}" type="slidenum">
              <a:rPr lang="en-US" smtClean="0"/>
              <a:t>‹#›</a:t>
            </a:fld>
            <a:endParaRPr lang="en-US"/>
          </a:p>
        </p:txBody>
      </p:sp>
    </p:spTree>
    <p:extLst>
      <p:ext uri="{BB962C8B-B14F-4D97-AF65-F5344CB8AC3E}">
        <p14:creationId xmlns:p14="http://schemas.microsoft.com/office/powerpoint/2010/main" val="2078492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2B674A-7561-BBE4-BBFD-CF30CAE7266D}"/>
              </a:ext>
            </a:extLst>
          </p:cNvPr>
          <p:cNvSpPr>
            <a:spLocks noGrp="1"/>
          </p:cNvSpPr>
          <p:nvPr>
            <p:ph type="dt" sz="half" idx="10"/>
          </p:nvPr>
        </p:nvSpPr>
        <p:spPr/>
        <p:txBody>
          <a:bodyPr/>
          <a:lstStyle/>
          <a:p>
            <a:fld id="{EA72E7BD-C1BB-46F1-B277-8AE99D5C93A3}" type="datetimeFigureOut">
              <a:rPr lang="en-US" smtClean="0"/>
              <a:t>6/29/2022</a:t>
            </a:fld>
            <a:endParaRPr lang="en-US"/>
          </a:p>
        </p:txBody>
      </p:sp>
      <p:sp>
        <p:nvSpPr>
          <p:cNvPr id="3" name="Footer Placeholder 2">
            <a:extLst>
              <a:ext uri="{FF2B5EF4-FFF2-40B4-BE49-F238E27FC236}">
                <a16:creationId xmlns:a16="http://schemas.microsoft.com/office/drawing/2014/main" id="{54D0B8AE-AC3E-A349-1454-FDBC9A87AA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F82CF5-862B-DCDD-5513-C9A933FD4970}"/>
              </a:ext>
            </a:extLst>
          </p:cNvPr>
          <p:cNvSpPr>
            <a:spLocks noGrp="1"/>
          </p:cNvSpPr>
          <p:nvPr>
            <p:ph type="sldNum" sz="quarter" idx="12"/>
          </p:nvPr>
        </p:nvSpPr>
        <p:spPr/>
        <p:txBody>
          <a:bodyPr/>
          <a:lstStyle/>
          <a:p>
            <a:fld id="{8A3FB9A7-7665-45CE-AE79-F73FEF87FBC9}" type="slidenum">
              <a:rPr lang="en-US" smtClean="0"/>
              <a:t>‹#›</a:t>
            </a:fld>
            <a:endParaRPr lang="en-US"/>
          </a:p>
        </p:txBody>
      </p:sp>
    </p:spTree>
    <p:extLst>
      <p:ext uri="{BB962C8B-B14F-4D97-AF65-F5344CB8AC3E}">
        <p14:creationId xmlns:p14="http://schemas.microsoft.com/office/powerpoint/2010/main" val="229629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B409D-4130-2E03-F0B9-AAFD1BF9F4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8C8E6CA-3A66-868C-E320-FF6CBABCF9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588321D-A975-A884-6209-FC1F20455C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E80FFC-3EA6-A873-0FC9-5BE3E0D7B50A}"/>
              </a:ext>
            </a:extLst>
          </p:cNvPr>
          <p:cNvSpPr>
            <a:spLocks noGrp="1"/>
          </p:cNvSpPr>
          <p:nvPr>
            <p:ph type="dt" sz="half" idx="10"/>
          </p:nvPr>
        </p:nvSpPr>
        <p:spPr/>
        <p:txBody>
          <a:bodyPr/>
          <a:lstStyle/>
          <a:p>
            <a:fld id="{EA72E7BD-C1BB-46F1-B277-8AE99D5C93A3}" type="datetimeFigureOut">
              <a:rPr lang="en-US" smtClean="0"/>
              <a:t>6/29/2022</a:t>
            </a:fld>
            <a:endParaRPr lang="en-US"/>
          </a:p>
        </p:txBody>
      </p:sp>
      <p:sp>
        <p:nvSpPr>
          <p:cNvPr id="6" name="Footer Placeholder 5">
            <a:extLst>
              <a:ext uri="{FF2B5EF4-FFF2-40B4-BE49-F238E27FC236}">
                <a16:creationId xmlns:a16="http://schemas.microsoft.com/office/drawing/2014/main" id="{535E94A9-5AE4-66D8-D2D2-7940919559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2C1DAB-57A1-028B-2D5F-E9719752258F}"/>
              </a:ext>
            </a:extLst>
          </p:cNvPr>
          <p:cNvSpPr>
            <a:spLocks noGrp="1"/>
          </p:cNvSpPr>
          <p:nvPr>
            <p:ph type="sldNum" sz="quarter" idx="12"/>
          </p:nvPr>
        </p:nvSpPr>
        <p:spPr/>
        <p:txBody>
          <a:bodyPr/>
          <a:lstStyle/>
          <a:p>
            <a:fld id="{8A3FB9A7-7665-45CE-AE79-F73FEF87FBC9}" type="slidenum">
              <a:rPr lang="en-US" smtClean="0"/>
              <a:t>‹#›</a:t>
            </a:fld>
            <a:endParaRPr lang="en-US"/>
          </a:p>
        </p:txBody>
      </p:sp>
    </p:spTree>
    <p:extLst>
      <p:ext uri="{BB962C8B-B14F-4D97-AF65-F5344CB8AC3E}">
        <p14:creationId xmlns:p14="http://schemas.microsoft.com/office/powerpoint/2010/main" val="750128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3A8CE-0FCB-AC31-589D-6B8B4793CC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B4AE7A3-AD5F-92A6-9C69-638927DC9F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E7725A-F0B7-23F5-57EE-C80F5E364C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F0058F-41D4-AF41-E6A2-E998CFD1E532}"/>
              </a:ext>
            </a:extLst>
          </p:cNvPr>
          <p:cNvSpPr>
            <a:spLocks noGrp="1"/>
          </p:cNvSpPr>
          <p:nvPr>
            <p:ph type="dt" sz="half" idx="10"/>
          </p:nvPr>
        </p:nvSpPr>
        <p:spPr/>
        <p:txBody>
          <a:bodyPr/>
          <a:lstStyle/>
          <a:p>
            <a:fld id="{EA72E7BD-C1BB-46F1-B277-8AE99D5C93A3}" type="datetimeFigureOut">
              <a:rPr lang="en-US" smtClean="0"/>
              <a:t>6/29/2022</a:t>
            </a:fld>
            <a:endParaRPr lang="en-US"/>
          </a:p>
        </p:txBody>
      </p:sp>
      <p:sp>
        <p:nvSpPr>
          <p:cNvPr id="6" name="Footer Placeholder 5">
            <a:extLst>
              <a:ext uri="{FF2B5EF4-FFF2-40B4-BE49-F238E27FC236}">
                <a16:creationId xmlns:a16="http://schemas.microsoft.com/office/drawing/2014/main" id="{B83E63E8-A689-1C8C-7685-11665081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CCD9FF-C3FA-8767-900E-31E36F50DAE0}"/>
              </a:ext>
            </a:extLst>
          </p:cNvPr>
          <p:cNvSpPr>
            <a:spLocks noGrp="1"/>
          </p:cNvSpPr>
          <p:nvPr>
            <p:ph type="sldNum" sz="quarter" idx="12"/>
          </p:nvPr>
        </p:nvSpPr>
        <p:spPr/>
        <p:txBody>
          <a:bodyPr/>
          <a:lstStyle/>
          <a:p>
            <a:fld id="{8A3FB9A7-7665-45CE-AE79-F73FEF87FBC9}" type="slidenum">
              <a:rPr lang="en-US" smtClean="0"/>
              <a:t>‹#›</a:t>
            </a:fld>
            <a:endParaRPr lang="en-US"/>
          </a:p>
        </p:txBody>
      </p:sp>
    </p:spTree>
    <p:extLst>
      <p:ext uri="{BB962C8B-B14F-4D97-AF65-F5344CB8AC3E}">
        <p14:creationId xmlns:p14="http://schemas.microsoft.com/office/powerpoint/2010/main" val="2610094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72ACE-EFF8-AF3B-D87C-1CBB9DB558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CC948B-5FF3-FC3E-B005-1EA5590968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A6E1A2-A406-8045-ACBA-0F5F72EC97A5}"/>
              </a:ext>
            </a:extLst>
          </p:cNvPr>
          <p:cNvSpPr>
            <a:spLocks noGrp="1"/>
          </p:cNvSpPr>
          <p:nvPr>
            <p:ph type="dt" sz="half" idx="10"/>
          </p:nvPr>
        </p:nvSpPr>
        <p:spPr/>
        <p:txBody>
          <a:bodyPr/>
          <a:lstStyle/>
          <a:p>
            <a:fld id="{EA72E7BD-C1BB-46F1-B277-8AE99D5C93A3}" type="datetimeFigureOut">
              <a:rPr lang="en-US" smtClean="0"/>
              <a:t>6/29/2022</a:t>
            </a:fld>
            <a:endParaRPr lang="en-US"/>
          </a:p>
        </p:txBody>
      </p:sp>
      <p:sp>
        <p:nvSpPr>
          <p:cNvPr id="5" name="Footer Placeholder 4">
            <a:extLst>
              <a:ext uri="{FF2B5EF4-FFF2-40B4-BE49-F238E27FC236}">
                <a16:creationId xmlns:a16="http://schemas.microsoft.com/office/drawing/2014/main" id="{69B344AA-599D-B591-CCF9-F5C7B75502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0287FD-BE21-21AA-6789-0FDDC875B6F2}"/>
              </a:ext>
            </a:extLst>
          </p:cNvPr>
          <p:cNvSpPr>
            <a:spLocks noGrp="1"/>
          </p:cNvSpPr>
          <p:nvPr>
            <p:ph type="sldNum" sz="quarter" idx="12"/>
          </p:nvPr>
        </p:nvSpPr>
        <p:spPr/>
        <p:txBody>
          <a:bodyPr/>
          <a:lstStyle/>
          <a:p>
            <a:fld id="{8A3FB9A7-7665-45CE-AE79-F73FEF87FBC9}" type="slidenum">
              <a:rPr lang="en-US" smtClean="0"/>
              <a:t>‹#›</a:t>
            </a:fld>
            <a:endParaRPr lang="en-US"/>
          </a:p>
        </p:txBody>
      </p:sp>
    </p:spTree>
    <p:extLst>
      <p:ext uri="{BB962C8B-B14F-4D97-AF65-F5344CB8AC3E}">
        <p14:creationId xmlns:p14="http://schemas.microsoft.com/office/powerpoint/2010/main" val="631082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9CD68B-E022-8BB0-786A-C8B7F9EB6B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719E1AD-009A-9A78-67CD-D7B874264C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EE2BEF-8CBC-8DBA-8FCB-199F6E6DD1B3}"/>
              </a:ext>
            </a:extLst>
          </p:cNvPr>
          <p:cNvSpPr>
            <a:spLocks noGrp="1"/>
          </p:cNvSpPr>
          <p:nvPr>
            <p:ph type="dt" sz="half" idx="10"/>
          </p:nvPr>
        </p:nvSpPr>
        <p:spPr/>
        <p:txBody>
          <a:bodyPr/>
          <a:lstStyle/>
          <a:p>
            <a:fld id="{EA72E7BD-C1BB-46F1-B277-8AE99D5C93A3}" type="datetimeFigureOut">
              <a:rPr lang="en-US" smtClean="0"/>
              <a:t>6/29/2022</a:t>
            </a:fld>
            <a:endParaRPr lang="en-US"/>
          </a:p>
        </p:txBody>
      </p:sp>
      <p:sp>
        <p:nvSpPr>
          <p:cNvPr id="5" name="Footer Placeholder 4">
            <a:extLst>
              <a:ext uri="{FF2B5EF4-FFF2-40B4-BE49-F238E27FC236}">
                <a16:creationId xmlns:a16="http://schemas.microsoft.com/office/drawing/2014/main" id="{4E89D9BB-00BF-1610-2A20-154066C53C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C81725-EEBF-C916-3A1B-1CFE4AD24663}"/>
              </a:ext>
            </a:extLst>
          </p:cNvPr>
          <p:cNvSpPr>
            <a:spLocks noGrp="1"/>
          </p:cNvSpPr>
          <p:nvPr>
            <p:ph type="sldNum" sz="quarter" idx="12"/>
          </p:nvPr>
        </p:nvSpPr>
        <p:spPr/>
        <p:txBody>
          <a:bodyPr/>
          <a:lstStyle/>
          <a:p>
            <a:fld id="{8A3FB9A7-7665-45CE-AE79-F73FEF87FBC9}" type="slidenum">
              <a:rPr lang="en-US" smtClean="0"/>
              <a:t>‹#›</a:t>
            </a:fld>
            <a:endParaRPr lang="en-US"/>
          </a:p>
        </p:txBody>
      </p:sp>
    </p:spTree>
    <p:extLst>
      <p:ext uri="{BB962C8B-B14F-4D97-AF65-F5344CB8AC3E}">
        <p14:creationId xmlns:p14="http://schemas.microsoft.com/office/powerpoint/2010/main" val="4190323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41750D-D8EB-6F7D-C3EE-2D20ADF43A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70BC56-7617-F598-24E3-74BA7B95EF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8D0FD3-221E-F7B7-93E0-3B66B85F20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72E7BD-C1BB-46F1-B277-8AE99D5C93A3}" type="datetimeFigureOut">
              <a:rPr lang="en-US" smtClean="0"/>
              <a:t>6/29/2022</a:t>
            </a:fld>
            <a:endParaRPr lang="en-US"/>
          </a:p>
        </p:txBody>
      </p:sp>
      <p:sp>
        <p:nvSpPr>
          <p:cNvPr id="5" name="Footer Placeholder 4">
            <a:extLst>
              <a:ext uri="{FF2B5EF4-FFF2-40B4-BE49-F238E27FC236}">
                <a16:creationId xmlns:a16="http://schemas.microsoft.com/office/drawing/2014/main" id="{9D935B70-3517-88AD-0228-5E5448AB92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821F37A-8A7F-CAB0-FCD4-834AEF9812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3FB9A7-7665-45CE-AE79-F73FEF87FBC9}" type="slidenum">
              <a:rPr lang="en-US" smtClean="0"/>
              <a:t>‹#›</a:t>
            </a:fld>
            <a:endParaRPr lang="en-US"/>
          </a:p>
        </p:txBody>
      </p:sp>
    </p:spTree>
    <p:extLst>
      <p:ext uri="{BB962C8B-B14F-4D97-AF65-F5344CB8AC3E}">
        <p14:creationId xmlns:p14="http://schemas.microsoft.com/office/powerpoint/2010/main" val="8874937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dmin@stempro.org" TargetMode="External"/><Relationship Id="rId2" Type="http://schemas.openxmlformats.org/officeDocument/2006/relationships/hyperlink" Target="mailto:stemproaca@gmail.com" TargetMode="External"/><Relationship Id="rId1" Type="http://schemas.openxmlformats.org/officeDocument/2006/relationships/slideLayout" Target="../slideLayouts/slideLayout1.xml"/><Relationship Id="rId4" Type="http://schemas.openxmlformats.org/officeDocument/2006/relationships/hyperlink" Target="https://us02web.zoom.us/j/6025429559?pwd=OUpkVjdXMjlxUDFsRktPdTFXNk96QT09'%20Meeting%20ID:%20602%20542%209559%20Passcode:%20686868"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762D9-7C7C-B5F0-5954-BEF25A6623EA}"/>
              </a:ext>
            </a:extLst>
          </p:cNvPr>
          <p:cNvSpPr>
            <a:spLocks noGrp="1"/>
          </p:cNvSpPr>
          <p:nvPr>
            <p:ph type="ctrTitle"/>
          </p:nvPr>
        </p:nvSpPr>
        <p:spPr>
          <a:xfrm>
            <a:off x="1524000" y="1122362"/>
            <a:ext cx="9144000" cy="4300975"/>
          </a:xfrm>
        </p:spPr>
        <p:txBody>
          <a:bodyPr>
            <a:noAutofit/>
          </a:bodyPr>
          <a:lstStyle/>
          <a:p>
            <a:r>
              <a:rPr lang="en-US" sz="4000" b="1" dirty="0"/>
              <a:t>Welcome!</a:t>
            </a:r>
            <a:br>
              <a:rPr lang="en-US" sz="4000" dirty="0"/>
            </a:br>
            <a:br>
              <a:rPr lang="en-US" altLang="zh-CN" sz="4000" dirty="0"/>
            </a:br>
            <a:r>
              <a:rPr lang="en-US" sz="4000" dirty="0"/>
              <a:t>Thank You for Choosing Us for Your STEM Passion!</a:t>
            </a:r>
            <a:br>
              <a:rPr lang="en-US" sz="4000" dirty="0"/>
            </a:br>
            <a:br>
              <a:rPr lang="en-US" sz="4000" dirty="0"/>
            </a:br>
            <a:r>
              <a:rPr lang="en-US" sz="4000" dirty="0"/>
              <a:t>Roy Ma</a:t>
            </a:r>
            <a:br>
              <a:rPr lang="en-US" sz="4000" dirty="0"/>
            </a:br>
            <a:r>
              <a:rPr lang="en-US" sz="4000" dirty="0">
                <a:hlinkClick r:id="rId2"/>
              </a:rPr>
              <a:t>stemproaca@gmail.com</a:t>
            </a:r>
            <a:br>
              <a:rPr lang="en-US" sz="4000" dirty="0"/>
            </a:br>
            <a:r>
              <a:rPr lang="en-US" sz="4000" dirty="0">
                <a:hlinkClick r:id="rId3"/>
              </a:rPr>
              <a:t>admin@stempro.org</a:t>
            </a:r>
            <a:r>
              <a:rPr lang="en-US" sz="4000" dirty="0"/>
              <a:t> </a:t>
            </a:r>
            <a:br>
              <a:rPr lang="en-US" sz="4000" dirty="0"/>
            </a:br>
            <a:r>
              <a:rPr lang="en-US" sz="4000" dirty="0"/>
              <a:t>425-409-1805</a:t>
            </a:r>
          </a:p>
        </p:txBody>
      </p:sp>
      <p:sp>
        <p:nvSpPr>
          <p:cNvPr id="3" name="TextBox 2">
            <a:extLst>
              <a:ext uri="{FF2B5EF4-FFF2-40B4-BE49-F238E27FC236}">
                <a16:creationId xmlns:a16="http://schemas.microsoft.com/office/drawing/2014/main" id="{B4292D0A-D2D0-A950-673E-918D9835B6C7}"/>
              </a:ext>
            </a:extLst>
          </p:cNvPr>
          <p:cNvSpPr txBox="1"/>
          <p:nvPr/>
        </p:nvSpPr>
        <p:spPr>
          <a:xfrm>
            <a:off x="9553903" y="0"/>
            <a:ext cx="2638097" cy="369332"/>
          </a:xfrm>
          <a:prstGeom prst="rect">
            <a:avLst/>
          </a:prstGeom>
          <a:noFill/>
        </p:spPr>
        <p:txBody>
          <a:bodyPr wrap="square" rtlCol="0">
            <a:spAutoFit/>
          </a:bodyPr>
          <a:lstStyle/>
          <a:p>
            <a:r>
              <a:rPr lang="en-US" altLang="zh-CN" b="1" dirty="0">
                <a:solidFill>
                  <a:schemeClr val="bg1">
                    <a:lumMod val="85000"/>
                  </a:schemeClr>
                </a:solidFill>
              </a:rPr>
              <a:t>Stem Pro Academy, 2022</a:t>
            </a:r>
            <a:endParaRPr lang="en-US" b="1" dirty="0">
              <a:solidFill>
                <a:schemeClr val="bg1">
                  <a:lumMod val="85000"/>
                </a:schemeClr>
              </a:solidFill>
            </a:endParaRPr>
          </a:p>
        </p:txBody>
      </p:sp>
      <p:sp>
        <p:nvSpPr>
          <p:cNvPr id="5" name="TextBox 4">
            <a:hlinkClick r:id="rId4"/>
            <a:extLst>
              <a:ext uri="{FF2B5EF4-FFF2-40B4-BE49-F238E27FC236}">
                <a16:creationId xmlns:a16="http://schemas.microsoft.com/office/drawing/2014/main" id="{C4F6D603-D1EE-3489-B5F3-5A60CD784D14}"/>
              </a:ext>
            </a:extLst>
          </p:cNvPr>
          <p:cNvSpPr txBox="1"/>
          <p:nvPr/>
        </p:nvSpPr>
        <p:spPr>
          <a:xfrm>
            <a:off x="273267" y="5735638"/>
            <a:ext cx="11719036" cy="276999"/>
          </a:xfrm>
          <a:prstGeom prst="rect">
            <a:avLst/>
          </a:prstGeom>
          <a:noFill/>
        </p:spPr>
        <p:txBody>
          <a:bodyPr wrap="square">
            <a:spAutoFit/>
          </a:bodyPr>
          <a:lstStyle/>
          <a:p>
            <a:pPr algn="ctr"/>
            <a:r>
              <a:rPr lang="en-US" sz="1200" b="0" i="0" u="sng" strike="noStrike" dirty="0">
                <a:solidFill>
                  <a:srgbClr val="000000"/>
                </a:solidFill>
                <a:effectLst/>
                <a:latin typeface="Roboto" panose="02000000000000000000" pitchFamily="2" charset="0"/>
              </a:rPr>
              <a:t>https://us02web.zoom.us/j/6025429559?pwd=OUpkVjdXMjlxUDFsRktPdTFXNk96QT09' Meeting ID: 602 542 9559 Passcode: 686868</a:t>
            </a:r>
            <a:r>
              <a:rPr lang="en-US" sz="1200" dirty="0"/>
              <a:t> </a:t>
            </a:r>
          </a:p>
        </p:txBody>
      </p:sp>
    </p:spTree>
    <p:extLst>
      <p:ext uri="{BB962C8B-B14F-4D97-AF65-F5344CB8AC3E}">
        <p14:creationId xmlns:p14="http://schemas.microsoft.com/office/powerpoint/2010/main" val="25985647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292D0A-D2D0-A950-673E-918D9835B6C7}"/>
              </a:ext>
            </a:extLst>
          </p:cNvPr>
          <p:cNvSpPr txBox="1"/>
          <p:nvPr/>
        </p:nvSpPr>
        <p:spPr>
          <a:xfrm>
            <a:off x="9553903" y="0"/>
            <a:ext cx="2638097" cy="369332"/>
          </a:xfrm>
          <a:prstGeom prst="rect">
            <a:avLst/>
          </a:prstGeom>
          <a:noFill/>
        </p:spPr>
        <p:txBody>
          <a:bodyPr wrap="square" rtlCol="0">
            <a:spAutoFit/>
          </a:bodyPr>
          <a:lstStyle/>
          <a:p>
            <a:r>
              <a:rPr lang="en-US" altLang="zh-CN" b="1" dirty="0">
                <a:solidFill>
                  <a:schemeClr val="bg1">
                    <a:lumMod val="85000"/>
                  </a:schemeClr>
                </a:solidFill>
              </a:rPr>
              <a:t>Stem Pro Academy, 2022</a:t>
            </a:r>
            <a:endParaRPr lang="en-US" b="1" dirty="0">
              <a:solidFill>
                <a:schemeClr val="bg1">
                  <a:lumMod val="85000"/>
                </a:schemeClr>
              </a:solidFill>
            </a:endParaRPr>
          </a:p>
        </p:txBody>
      </p:sp>
      <p:sp>
        <p:nvSpPr>
          <p:cNvPr id="5" name="Title 1">
            <a:extLst>
              <a:ext uri="{FF2B5EF4-FFF2-40B4-BE49-F238E27FC236}">
                <a16:creationId xmlns:a16="http://schemas.microsoft.com/office/drawing/2014/main" id="{BD208803-0665-32A9-A974-5F85D81493A5}"/>
              </a:ext>
            </a:extLst>
          </p:cNvPr>
          <p:cNvSpPr>
            <a:spLocks noGrp="1"/>
          </p:cNvSpPr>
          <p:nvPr>
            <p:ph type="ctrTitle"/>
          </p:nvPr>
        </p:nvSpPr>
        <p:spPr>
          <a:xfrm>
            <a:off x="1524000" y="1122362"/>
            <a:ext cx="9144000" cy="4300975"/>
          </a:xfrm>
        </p:spPr>
        <p:txBody>
          <a:bodyPr>
            <a:noAutofit/>
          </a:bodyPr>
          <a:lstStyle/>
          <a:p>
            <a:r>
              <a:rPr lang="en-US" sz="4000" b="1" dirty="0"/>
              <a:t> </a:t>
            </a:r>
            <a:br>
              <a:rPr lang="en-US" sz="4000" dirty="0"/>
            </a:br>
            <a:r>
              <a:rPr lang="en-US" altLang="zh-CN" sz="4000" dirty="0"/>
              <a:t> </a:t>
            </a:r>
            <a:endParaRPr lang="en-US" sz="4000" dirty="0"/>
          </a:p>
        </p:txBody>
      </p:sp>
      <p:sp>
        <p:nvSpPr>
          <p:cNvPr id="6" name="TextBox 5">
            <a:extLst>
              <a:ext uri="{FF2B5EF4-FFF2-40B4-BE49-F238E27FC236}">
                <a16:creationId xmlns:a16="http://schemas.microsoft.com/office/drawing/2014/main" id="{541EE475-E3BF-479D-0C4E-8DEE0E1E1908}"/>
              </a:ext>
            </a:extLst>
          </p:cNvPr>
          <p:cNvSpPr txBox="1"/>
          <p:nvPr/>
        </p:nvSpPr>
        <p:spPr>
          <a:xfrm>
            <a:off x="935421" y="1780768"/>
            <a:ext cx="9732579" cy="923330"/>
          </a:xfrm>
          <a:prstGeom prst="rect">
            <a:avLst/>
          </a:prstGeom>
          <a:noFill/>
        </p:spPr>
        <p:txBody>
          <a:bodyPr wrap="square">
            <a:spAutoFit/>
          </a:bodyPr>
          <a:lstStyle/>
          <a:p>
            <a:pPr algn="ctr"/>
            <a:r>
              <a:rPr lang="en-US" sz="1800" dirty="0"/>
              <a:t>Data Science Foundation: </a:t>
            </a:r>
          </a:p>
          <a:p>
            <a:pPr algn="ctr"/>
            <a:r>
              <a:rPr lang="en-US" sz="3600" dirty="0"/>
              <a:t>Math, Programming and AI</a:t>
            </a:r>
          </a:p>
        </p:txBody>
      </p:sp>
    </p:spTree>
    <p:extLst>
      <p:ext uri="{BB962C8B-B14F-4D97-AF65-F5344CB8AC3E}">
        <p14:creationId xmlns:p14="http://schemas.microsoft.com/office/powerpoint/2010/main" val="1779615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292D0A-D2D0-A950-673E-918D9835B6C7}"/>
              </a:ext>
            </a:extLst>
          </p:cNvPr>
          <p:cNvSpPr txBox="1"/>
          <p:nvPr/>
        </p:nvSpPr>
        <p:spPr>
          <a:xfrm>
            <a:off x="9553903" y="0"/>
            <a:ext cx="2638097" cy="369332"/>
          </a:xfrm>
          <a:prstGeom prst="rect">
            <a:avLst/>
          </a:prstGeom>
          <a:noFill/>
        </p:spPr>
        <p:txBody>
          <a:bodyPr wrap="square" rtlCol="0">
            <a:spAutoFit/>
          </a:bodyPr>
          <a:lstStyle/>
          <a:p>
            <a:r>
              <a:rPr lang="en-US" altLang="zh-CN" b="1" dirty="0">
                <a:solidFill>
                  <a:schemeClr val="bg1">
                    <a:lumMod val="85000"/>
                  </a:schemeClr>
                </a:solidFill>
              </a:rPr>
              <a:t>Stem Pro Academy, 2022</a:t>
            </a:r>
            <a:endParaRPr lang="en-US" b="1" dirty="0">
              <a:solidFill>
                <a:schemeClr val="bg1">
                  <a:lumMod val="85000"/>
                </a:schemeClr>
              </a:solidFill>
            </a:endParaRPr>
          </a:p>
        </p:txBody>
      </p:sp>
      <p:sp>
        <p:nvSpPr>
          <p:cNvPr id="2" name="TextBox 1">
            <a:extLst>
              <a:ext uri="{FF2B5EF4-FFF2-40B4-BE49-F238E27FC236}">
                <a16:creationId xmlns:a16="http://schemas.microsoft.com/office/drawing/2014/main" id="{AF215E63-A766-2D8D-5219-EBC4D7C6E8B2}"/>
              </a:ext>
            </a:extLst>
          </p:cNvPr>
          <p:cNvSpPr txBox="1"/>
          <p:nvPr/>
        </p:nvSpPr>
        <p:spPr>
          <a:xfrm>
            <a:off x="735724" y="369332"/>
            <a:ext cx="10972800" cy="5693866"/>
          </a:xfrm>
          <a:prstGeom prst="rect">
            <a:avLst/>
          </a:prstGeom>
          <a:noFill/>
        </p:spPr>
        <p:txBody>
          <a:bodyPr wrap="square" rtlCol="0">
            <a:spAutoFit/>
          </a:bodyPr>
          <a:lstStyle/>
          <a:p>
            <a:r>
              <a:rPr lang="en-US" sz="2800" dirty="0"/>
              <a:t>About Me:</a:t>
            </a:r>
          </a:p>
          <a:p>
            <a:r>
              <a:rPr lang="en-US" sz="2800" dirty="0"/>
              <a:t>From China, Studied in University of Toronto in Canada, ran a startup in Toronto, moved to the States over ten years ago. Now working as a data scientist. </a:t>
            </a:r>
          </a:p>
          <a:p>
            <a:endParaRPr lang="en-US" sz="2800" dirty="0"/>
          </a:p>
          <a:p>
            <a:r>
              <a:rPr lang="en-US" sz="2800" dirty="0"/>
              <a:t>As for myself, hiking is my favorite sport(?). If I couldn’t be reached, I am somewhere in the mountain. </a:t>
            </a:r>
          </a:p>
          <a:p>
            <a:endParaRPr lang="en-US" sz="2800" dirty="0"/>
          </a:p>
          <a:p>
            <a:endParaRPr lang="en-US" sz="2800" dirty="0"/>
          </a:p>
          <a:p>
            <a:r>
              <a:rPr lang="en-US" sz="2800" dirty="0"/>
              <a:t>TAs:</a:t>
            </a:r>
          </a:p>
          <a:p>
            <a:r>
              <a:rPr lang="en-US" sz="2800" dirty="0"/>
              <a:t>John, Anita, Elisa and Angus.  </a:t>
            </a:r>
            <a:r>
              <a:rPr lang="en-US" altLang="zh-CN" sz="2800" dirty="0"/>
              <a:t>John is a graduate of MIT, he was the IMO medalist. Elisa and Anita are raising seniors at CMU, and Angus is a high school raising senior.</a:t>
            </a:r>
          </a:p>
        </p:txBody>
      </p:sp>
    </p:spTree>
    <p:extLst>
      <p:ext uri="{BB962C8B-B14F-4D97-AF65-F5344CB8AC3E}">
        <p14:creationId xmlns:p14="http://schemas.microsoft.com/office/powerpoint/2010/main" val="1466131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0EDC0C-D960-9E55-7897-87954FDAF638}"/>
              </a:ext>
            </a:extLst>
          </p:cNvPr>
          <p:cNvSpPr>
            <a:spLocks noGrp="1"/>
          </p:cNvSpPr>
          <p:nvPr>
            <p:ph type="ctrTitle"/>
          </p:nvPr>
        </p:nvSpPr>
        <p:spPr>
          <a:xfrm>
            <a:off x="1334814" y="1219200"/>
            <a:ext cx="9144000" cy="3888828"/>
          </a:xfrm>
        </p:spPr>
        <p:txBody>
          <a:bodyPr>
            <a:normAutofit fontScale="90000"/>
          </a:bodyPr>
          <a:lstStyle/>
          <a:p>
            <a:r>
              <a:rPr lang="en-US" altLang="zh-CN" b="1" dirty="0"/>
              <a:t>Note:</a:t>
            </a:r>
            <a:br>
              <a:rPr lang="en-US" altLang="zh-CN" dirty="0"/>
            </a:br>
            <a:r>
              <a:rPr lang="en-US" altLang="zh-CN" sz="4400" dirty="0"/>
              <a:t>Instead</a:t>
            </a:r>
            <a:r>
              <a:rPr lang="zh-CN" altLang="en-US" sz="4400" dirty="0"/>
              <a:t> </a:t>
            </a:r>
            <a:r>
              <a:rPr lang="en-US" altLang="zh-CN" sz="4400" dirty="0"/>
              <a:t>of</a:t>
            </a:r>
            <a:r>
              <a:rPr lang="zh-CN" altLang="en-US" sz="4400" dirty="0"/>
              <a:t> </a:t>
            </a:r>
            <a:r>
              <a:rPr lang="en-US" altLang="zh-CN" sz="4400" dirty="0"/>
              <a:t>getting</a:t>
            </a:r>
            <a:r>
              <a:rPr lang="zh-CN" altLang="en-US" sz="4400" dirty="0"/>
              <a:t> </a:t>
            </a:r>
            <a:r>
              <a:rPr lang="en-US" altLang="zh-CN" sz="4400" dirty="0"/>
              <a:t>env</a:t>
            </a:r>
            <a:r>
              <a:rPr lang="zh-CN" altLang="en-US" sz="4400" dirty="0"/>
              <a:t> </a:t>
            </a:r>
            <a:r>
              <a:rPr lang="en-US" altLang="zh-CN" sz="4400" dirty="0"/>
              <a:t>ready</a:t>
            </a:r>
            <a:r>
              <a:rPr lang="zh-CN" altLang="en-US" sz="4400" dirty="0"/>
              <a:t> </a:t>
            </a:r>
            <a:r>
              <a:rPr lang="en-US" altLang="zh-CN" sz="4400" dirty="0"/>
              <a:t>from</a:t>
            </a:r>
            <a:r>
              <a:rPr lang="zh-CN" altLang="en-US" sz="4400" dirty="0"/>
              <a:t> </a:t>
            </a:r>
            <a:r>
              <a:rPr lang="en-US" altLang="zh-CN" sz="4400" dirty="0"/>
              <a:t>the</a:t>
            </a:r>
            <a:r>
              <a:rPr lang="zh-CN" altLang="en-US" sz="4400" dirty="0"/>
              <a:t> </a:t>
            </a:r>
            <a:r>
              <a:rPr lang="en-US" altLang="zh-CN" sz="4400" dirty="0"/>
              <a:t>beginning, we will learn about development (i.e., Anaconda, git and repository) along the way. And most of them will be done during office hours. </a:t>
            </a:r>
            <a:endParaRPr lang="en-US" dirty="0"/>
          </a:p>
        </p:txBody>
      </p:sp>
      <p:sp>
        <p:nvSpPr>
          <p:cNvPr id="5" name="TextBox 4">
            <a:extLst>
              <a:ext uri="{FF2B5EF4-FFF2-40B4-BE49-F238E27FC236}">
                <a16:creationId xmlns:a16="http://schemas.microsoft.com/office/drawing/2014/main" id="{1BF15609-58CE-3080-96AB-EDE79F2CFB79}"/>
              </a:ext>
            </a:extLst>
          </p:cNvPr>
          <p:cNvSpPr txBox="1"/>
          <p:nvPr/>
        </p:nvSpPr>
        <p:spPr>
          <a:xfrm>
            <a:off x="9553903" y="0"/>
            <a:ext cx="2638097" cy="369332"/>
          </a:xfrm>
          <a:prstGeom prst="rect">
            <a:avLst/>
          </a:prstGeom>
          <a:noFill/>
        </p:spPr>
        <p:txBody>
          <a:bodyPr wrap="square" rtlCol="0">
            <a:spAutoFit/>
          </a:bodyPr>
          <a:lstStyle/>
          <a:p>
            <a:r>
              <a:rPr lang="en-US" altLang="zh-CN" b="1" dirty="0">
                <a:solidFill>
                  <a:schemeClr val="bg1">
                    <a:lumMod val="85000"/>
                  </a:schemeClr>
                </a:solidFill>
              </a:rPr>
              <a:t>Stem Pro Academy, 2022</a:t>
            </a:r>
            <a:endParaRPr lang="en-US" b="1" dirty="0">
              <a:solidFill>
                <a:schemeClr val="bg1">
                  <a:lumMod val="85000"/>
                </a:schemeClr>
              </a:solidFill>
            </a:endParaRPr>
          </a:p>
        </p:txBody>
      </p:sp>
    </p:spTree>
    <p:extLst>
      <p:ext uri="{BB962C8B-B14F-4D97-AF65-F5344CB8AC3E}">
        <p14:creationId xmlns:p14="http://schemas.microsoft.com/office/powerpoint/2010/main" val="2430404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0EDC0C-D960-9E55-7897-87954FDAF638}"/>
              </a:ext>
            </a:extLst>
          </p:cNvPr>
          <p:cNvSpPr>
            <a:spLocks noGrp="1"/>
          </p:cNvSpPr>
          <p:nvPr>
            <p:ph type="ctrTitle"/>
          </p:nvPr>
        </p:nvSpPr>
        <p:spPr>
          <a:xfrm>
            <a:off x="1524000" y="1122363"/>
            <a:ext cx="9144000" cy="3838520"/>
          </a:xfrm>
        </p:spPr>
        <p:txBody>
          <a:bodyPr>
            <a:normAutofit/>
          </a:bodyPr>
          <a:lstStyle/>
          <a:p>
            <a:r>
              <a:rPr lang="en-US" dirty="0"/>
              <a:t>What we are going to cover in the next 10 </a:t>
            </a:r>
            <a:r>
              <a:rPr lang="en-US" altLang="zh-CN" dirty="0"/>
              <a:t>Sessions</a:t>
            </a:r>
            <a:r>
              <a:rPr lang="en-US" dirty="0"/>
              <a:t>. </a:t>
            </a:r>
            <a:br>
              <a:rPr lang="en-US" dirty="0"/>
            </a:br>
            <a:r>
              <a:rPr lang="en-US" dirty="0"/>
              <a:t> </a:t>
            </a:r>
          </a:p>
        </p:txBody>
      </p:sp>
      <p:sp>
        <p:nvSpPr>
          <p:cNvPr id="5" name="TextBox 4">
            <a:extLst>
              <a:ext uri="{FF2B5EF4-FFF2-40B4-BE49-F238E27FC236}">
                <a16:creationId xmlns:a16="http://schemas.microsoft.com/office/drawing/2014/main" id="{1BF15609-58CE-3080-96AB-EDE79F2CFB79}"/>
              </a:ext>
            </a:extLst>
          </p:cNvPr>
          <p:cNvSpPr txBox="1"/>
          <p:nvPr/>
        </p:nvSpPr>
        <p:spPr>
          <a:xfrm>
            <a:off x="9553903" y="0"/>
            <a:ext cx="2638097" cy="369332"/>
          </a:xfrm>
          <a:prstGeom prst="rect">
            <a:avLst/>
          </a:prstGeom>
          <a:noFill/>
        </p:spPr>
        <p:txBody>
          <a:bodyPr wrap="square" rtlCol="0">
            <a:spAutoFit/>
          </a:bodyPr>
          <a:lstStyle/>
          <a:p>
            <a:r>
              <a:rPr lang="en-US" altLang="zh-CN" b="1" dirty="0">
                <a:solidFill>
                  <a:schemeClr val="bg1">
                    <a:lumMod val="85000"/>
                  </a:schemeClr>
                </a:solidFill>
              </a:rPr>
              <a:t>Stem Pro Academy, 2022</a:t>
            </a:r>
            <a:endParaRPr lang="en-US" b="1" dirty="0">
              <a:solidFill>
                <a:schemeClr val="bg1">
                  <a:lumMod val="85000"/>
                </a:schemeClr>
              </a:solidFill>
            </a:endParaRPr>
          </a:p>
        </p:txBody>
      </p:sp>
    </p:spTree>
    <p:extLst>
      <p:ext uri="{BB962C8B-B14F-4D97-AF65-F5344CB8AC3E}">
        <p14:creationId xmlns:p14="http://schemas.microsoft.com/office/powerpoint/2010/main" val="399777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0EDC0C-D960-9E55-7897-87954FDAF638}"/>
              </a:ext>
            </a:extLst>
          </p:cNvPr>
          <p:cNvSpPr>
            <a:spLocks noGrp="1"/>
          </p:cNvSpPr>
          <p:nvPr>
            <p:ph type="ctrTitle"/>
          </p:nvPr>
        </p:nvSpPr>
        <p:spPr>
          <a:xfrm>
            <a:off x="0" y="0"/>
            <a:ext cx="12192000" cy="588579"/>
          </a:xfrm>
        </p:spPr>
        <p:txBody>
          <a:bodyPr anchor="t">
            <a:noAutofit/>
          </a:bodyPr>
          <a:lstStyle/>
          <a:p>
            <a:pPr algn="l"/>
            <a:r>
              <a:rPr lang="en-US" sz="4000" dirty="0"/>
              <a:t>Dim1 – Programming and Math</a:t>
            </a:r>
          </a:p>
        </p:txBody>
      </p:sp>
      <p:pic>
        <p:nvPicPr>
          <p:cNvPr id="2" name="Picture 1">
            <a:extLst>
              <a:ext uri="{FF2B5EF4-FFF2-40B4-BE49-F238E27FC236}">
                <a16:creationId xmlns:a16="http://schemas.microsoft.com/office/drawing/2014/main" id="{067F7D16-11A7-BD5E-F273-BD081EF3B8CC}"/>
              </a:ext>
            </a:extLst>
          </p:cNvPr>
          <p:cNvPicPr>
            <a:picLocks noChangeAspect="1"/>
          </p:cNvPicPr>
          <p:nvPr/>
        </p:nvPicPr>
        <p:blipFill>
          <a:blip r:embed="rId2"/>
          <a:stretch>
            <a:fillRect/>
          </a:stretch>
        </p:blipFill>
        <p:spPr>
          <a:xfrm>
            <a:off x="1157287" y="781050"/>
            <a:ext cx="9877425" cy="6076950"/>
          </a:xfrm>
          <a:prstGeom prst="rect">
            <a:avLst/>
          </a:prstGeom>
        </p:spPr>
      </p:pic>
      <p:sp>
        <p:nvSpPr>
          <p:cNvPr id="5" name="TextBox 4">
            <a:extLst>
              <a:ext uri="{FF2B5EF4-FFF2-40B4-BE49-F238E27FC236}">
                <a16:creationId xmlns:a16="http://schemas.microsoft.com/office/drawing/2014/main" id="{C733E8EC-464A-BBC1-1218-86960A42BC96}"/>
              </a:ext>
            </a:extLst>
          </p:cNvPr>
          <p:cNvSpPr txBox="1"/>
          <p:nvPr/>
        </p:nvSpPr>
        <p:spPr>
          <a:xfrm>
            <a:off x="9553903" y="0"/>
            <a:ext cx="2638097" cy="369332"/>
          </a:xfrm>
          <a:prstGeom prst="rect">
            <a:avLst/>
          </a:prstGeom>
          <a:noFill/>
        </p:spPr>
        <p:txBody>
          <a:bodyPr wrap="square" rtlCol="0">
            <a:spAutoFit/>
          </a:bodyPr>
          <a:lstStyle/>
          <a:p>
            <a:r>
              <a:rPr lang="en-US" altLang="zh-CN" b="1" dirty="0">
                <a:solidFill>
                  <a:schemeClr val="bg1">
                    <a:lumMod val="85000"/>
                  </a:schemeClr>
                </a:solidFill>
              </a:rPr>
              <a:t>Stem Pro Academy, 2022</a:t>
            </a:r>
            <a:endParaRPr lang="en-US" b="1" dirty="0">
              <a:solidFill>
                <a:schemeClr val="bg1">
                  <a:lumMod val="85000"/>
                </a:schemeClr>
              </a:solidFill>
            </a:endParaRPr>
          </a:p>
        </p:txBody>
      </p:sp>
    </p:spTree>
    <p:extLst>
      <p:ext uri="{BB962C8B-B14F-4D97-AF65-F5344CB8AC3E}">
        <p14:creationId xmlns:p14="http://schemas.microsoft.com/office/powerpoint/2010/main" val="1207952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B56F8A48-2700-7A36-6D65-48C0A34341B4}"/>
              </a:ext>
            </a:extLst>
          </p:cNvPr>
          <p:cNvSpPr txBox="1">
            <a:spLocks/>
          </p:cNvSpPr>
          <p:nvPr/>
        </p:nvSpPr>
        <p:spPr>
          <a:xfrm>
            <a:off x="0" y="0"/>
            <a:ext cx="12192000" cy="588579"/>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t>Dim2 – </a:t>
            </a:r>
            <a:r>
              <a:rPr lang="en-US" altLang="zh-CN" sz="4000" dirty="0"/>
              <a:t>Math</a:t>
            </a:r>
            <a:endParaRPr lang="en-US" sz="4000" dirty="0"/>
          </a:p>
        </p:txBody>
      </p:sp>
      <p:pic>
        <p:nvPicPr>
          <p:cNvPr id="6" name="Picture 5">
            <a:extLst>
              <a:ext uri="{FF2B5EF4-FFF2-40B4-BE49-F238E27FC236}">
                <a16:creationId xmlns:a16="http://schemas.microsoft.com/office/drawing/2014/main" id="{0032099F-2A3B-C630-E227-607BAB340DF1}"/>
              </a:ext>
            </a:extLst>
          </p:cNvPr>
          <p:cNvPicPr>
            <a:picLocks noChangeAspect="1"/>
          </p:cNvPicPr>
          <p:nvPr/>
        </p:nvPicPr>
        <p:blipFill>
          <a:blip r:embed="rId2"/>
          <a:stretch>
            <a:fillRect/>
          </a:stretch>
        </p:blipFill>
        <p:spPr>
          <a:xfrm>
            <a:off x="2129001" y="588579"/>
            <a:ext cx="6819900" cy="6162675"/>
          </a:xfrm>
          <a:prstGeom prst="rect">
            <a:avLst/>
          </a:prstGeom>
        </p:spPr>
      </p:pic>
      <p:sp>
        <p:nvSpPr>
          <p:cNvPr id="8" name="TextBox 7">
            <a:extLst>
              <a:ext uri="{FF2B5EF4-FFF2-40B4-BE49-F238E27FC236}">
                <a16:creationId xmlns:a16="http://schemas.microsoft.com/office/drawing/2014/main" id="{4E3A14E6-3E7D-898E-744F-21536257CE0F}"/>
              </a:ext>
            </a:extLst>
          </p:cNvPr>
          <p:cNvSpPr txBox="1"/>
          <p:nvPr/>
        </p:nvSpPr>
        <p:spPr>
          <a:xfrm>
            <a:off x="9258958" y="1996965"/>
            <a:ext cx="2217682" cy="1815882"/>
          </a:xfrm>
          <a:prstGeom prst="rect">
            <a:avLst/>
          </a:prstGeom>
          <a:noFill/>
        </p:spPr>
        <p:txBody>
          <a:bodyPr wrap="square" rtlCol="0">
            <a:spAutoFit/>
          </a:bodyPr>
          <a:lstStyle/>
          <a:p>
            <a:r>
              <a:rPr lang="en-US" sz="2800" dirty="0">
                <a:highlight>
                  <a:srgbClr val="FFFF00"/>
                </a:highlight>
              </a:rPr>
              <a:t>First 5 Weeks will be </a:t>
            </a:r>
            <a:r>
              <a:rPr lang="en-US" altLang="zh-CN" sz="2800" dirty="0">
                <a:highlight>
                  <a:srgbClr val="FFFF00"/>
                </a:highlight>
              </a:rPr>
              <a:t>math in Python intensive!</a:t>
            </a:r>
            <a:endParaRPr lang="en-US" sz="2800" dirty="0">
              <a:highlight>
                <a:srgbClr val="FFFF00"/>
              </a:highlight>
            </a:endParaRPr>
          </a:p>
        </p:txBody>
      </p:sp>
    </p:spTree>
    <p:extLst>
      <p:ext uri="{BB962C8B-B14F-4D97-AF65-F5344CB8AC3E}">
        <p14:creationId xmlns:p14="http://schemas.microsoft.com/office/powerpoint/2010/main" val="915975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B56F8A48-2700-7A36-6D65-48C0A34341B4}"/>
              </a:ext>
            </a:extLst>
          </p:cNvPr>
          <p:cNvSpPr txBox="1">
            <a:spLocks/>
          </p:cNvSpPr>
          <p:nvPr/>
        </p:nvSpPr>
        <p:spPr>
          <a:xfrm>
            <a:off x="0" y="0"/>
            <a:ext cx="12192000" cy="588579"/>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dirty="0"/>
              <a:t>Dim2 – AI And Project  </a:t>
            </a:r>
          </a:p>
        </p:txBody>
      </p:sp>
      <p:pic>
        <p:nvPicPr>
          <p:cNvPr id="2" name="Picture 1">
            <a:extLst>
              <a:ext uri="{FF2B5EF4-FFF2-40B4-BE49-F238E27FC236}">
                <a16:creationId xmlns:a16="http://schemas.microsoft.com/office/drawing/2014/main" id="{403AD7FD-2EDA-40BB-28BC-D9491A6D9AAA}"/>
              </a:ext>
            </a:extLst>
          </p:cNvPr>
          <p:cNvPicPr>
            <a:picLocks noChangeAspect="1"/>
          </p:cNvPicPr>
          <p:nvPr/>
        </p:nvPicPr>
        <p:blipFill>
          <a:blip r:embed="rId2"/>
          <a:stretch>
            <a:fillRect/>
          </a:stretch>
        </p:blipFill>
        <p:spPr>
          <a:xfrm>
            <a:off x="1609888" y="765800"/>
            <a:ext cx="6829919" cy="5806777"/>
          </a:xfrm>
          <a:prstGeom prst="rect">
            <a:avLst/>
          </a:prstGeom>
        </p:spPr>
      </p:pic>
      <p:sp>
        <p:nvSpPr>
          <p:cNvPr id="5" name="TextBox 4">
            <a:extLst>
              <a:ext uri="{FF2B5EF4-FFF2-40B4-BE49-F238E27FC236}">
                <a16:creationId xmlns:a16="http://schemas.microsoft.com/office/drawing/2014/main" id="{888E9709-8551-CEBE-0D66-9C7CACB984C0}"/>
              </a:ext>
            </a:extLst>
          </p:cNvPr>
          <p:cNvSpPr txBox="1"/>
          <p:nvPr/>
        </p:nvSpPr>
        <p:spPr>
          <a:xfrm>
            <a:off x="9248448" y="1613118"/>
            <a:ext cx="2217682" cy="1815882"/>
          </a:xfrm>
          <a:prstGeom prst="rect">
            <a:avLst/>
          </a:prstGeom>
          <a:noFill/>
        </p:spPr>
        <p:txBody>
          <a:bodyPr wrap="square" rtlCol="0">
            <a:spAutoFit/>
          </a:bodyPr>
          <a:lstStyle/>
          <a:p>
            <a:r>
              <a:rPr lang="en-US" sz="2800" dirty="0">
                <a:highlight>
                  <a:srgbClr val="FFFF00"/>
                </a:highlight>
              </a:rPr>
              <a:t>From 6</a:t>
            </a:r>
            <a:r>
              <a:rPr lang="en-US" sz="2800" baseline="30000" dirty="0">
                <a:highlight>
                  <a:srgbClr val="FFFF00"/>
                </a:highlight>
              </a:rPr>
              <a:t>th</a:t>
            </a:r>
            <a:r>
              <a:rPr lang="en-US" sz="2800" dirty="0">
                <a:highlight>
                  <a:srgbClr val="FFFF00"/>
                </a:highlight>
              </a:rPr>
              <a:t>, focuses will be on and the two projects.  </a:t>
            </a:r>
          </a:p>
        </p:txBody>
      </p:sp>
    </p:spTree>
    <p:extLst>
      <p:ext uri="{BB962C8B-B14F-4D97-AF65-F5344CB8AC3E}">
        <p14:creationId xmlns:p14="http://schemas.microsoft.com/office/powerpoint/2010/main" val="3281405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275593B5-98DB-FD85-87E2-F3D3D8296617}"/>
              </a:ext>
            </a:extLst>
          </p:cNvPr>
          <p:cNvSpPr txBox="1"/>
          <p:nvPr/>
        </p:nvSpPr>
        <p:spPr>
          <a:xfrm>
            <a:off x="209027" y="1536776"/>
            <a:ext cx="11676993" cy="4524315"/>
          </a:xfrm>
          <a:prstGeom prst="rect">
            <a:avLst/>
          </a:prstGeom>
          <a:solidFill>
            <a:schemeClr val="tx2">
              <a:lumMod val="20000"/>
              <a:lumOff val="80000"/>
            </a:schemeClr>
          </a:solid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F19762D9-7C7C-B5F0-5954-BEF25A6623EA}"/>
              </a:ext>
            </a:extLst>
          </p:cNvPr>
          <p:cNvSpPr>
            <a:spLocks noGrp="1"/>
          </p:cNvSpPr>
          <p:nvPr>
            <p:ph type="ctrTitle"/>
          </p:nvPr>
        </p:nvSpPr>
        <p:spPr>
          <a:xfrm>
            <a:off x="2312276" y="420414"/>
            <a:ext cx="6999890" cy="1373457"/>
          </a:xfrm>
          <a:solidFill>
            <a:srgbClr val="00B0F0"/>
          </a:solidFill>
        </p:spPr>
        <p:txBody>
          <a:bodyPr anchor="ctr">
            <a:normAutofit/>
          </a:bodyPr>
          <a:lstStyle/>
          <a:p>
            <a:r>
              <a:rPr lang="en-US" sz="3600" dirty="0">
                <a:solidFill>
                  <a:schemeClr val="bg1">
                    <a:lumMod val="95000"/>
                  </a:schemeClr>
                </a:solidFill>
              </a:rPr>
              <a:t>Research My </a:t>
            </a:r>
            <a:r>
              <a:rPr lang="en-US" altLang="zh-CN" sz="3600" dirty="0">
                <a:solidFill>
                  <a:schemeClr val="bg1">
                    <a:lumMod val="95000"/>
                  </a:schemeClr>
                </a:solidFill>
              </a:rPr>
              <a:t>Dream School!</a:t>
            </a:r>
            <a:endParaRPr lang="en-US" dirty="0">
              <a:solidFill>
                <a:schemeClr val="bg1">
                  <a:lumMod val="95000"/>
                </a:schemeClr>
              </a:solidFill>
            </a:endParaRPr>
          </a:p>
        </p:txBody>
      </p:sp>
      <p:sp>
        <p:nvSpPr>
          <p:cNvPr id="5" name="TextBox 4">
            <a:extLst>
              <a:ext uri="{FF2B5EF4-FFF2-40B4-BE49-F238E27FC236}">
                <a16:creationId xmlns:a16="http://schemas.microsoft.com/office/drawing/2014/main" id="{5F90A810-7A52-C852-9E62-CDDEA38EDFBD}"/>
              </a:ext>
            </a:extLst>
          </p:cNvPr>
          <p:cNvSpPr txBox="1"/>
          <p:nvPr/>
        </p:nvSpPr>
        <p:spPr>
          <a:xfrm>
            <a:off x="209027" y="1783572"/>
            <a:ext cx="3563007" cy="2000548"/>
          </a:xfrm>
          <a:prstGeom prst="rect">
            <a:avLst/>
          </a:prstGeom>
          <a:noFill/>
        </p:spPr>
        <p:txBody>
          <a:bodyPr wrap="square" rtlCol="0">
            <a:spAutoFit/>
          </a:bodyPr>
          <a:lstStyle/>
          <a:p>
            <a:pPr algn="ctr"/>
            <a:r>
              <a:rPr lang="en-US" sz="2800" b="1" dirty="0">
                <a:solidFill>
                  <a:srgbClr val="00B0F0"/>
                </a:solidFill>
              </a:rPr>
              <a:t>01</a:t>
            </a:r>
          </a:p>
          <a:p>
            <a:pPr algn="ctr"/>
            <a:r>
              <a:rPr lang="en-US" altLang="zh-CN" sz="2400" b="1" dirty="0"/>
              <a:t>About the Project</a:t>
            </a:r>
          </a:p>
          <a:p>
            <a:pPr algn="ctr"/>
            <a:r>
              <a:rPr lang="en-US" dirty="0">
                <a:solidFill>
                  <a:srgbClr val="404040"/>
                </a:solidFill>
                <a:latin typeface="Arial" panose="020B0604020202020204" pitchFamily="34" charset="0"/>
                <a:ea typeface="DengXian" panose="02010600030101010101" pitchFamily="2" charset="-122"/>
              </a:rPr>
              <a:t>Scrape content from my dream college website, wiki pages of the school and use NLP to help me do research on this school</a:t>
            </a:r>
            <a:endParaRPr lang="en-US" dirty="0"/>
          </a:p>
        </p:txBody>
      </p:sp>
      <p:sp>
        <p:nvSpPr>
          <p:cNvPr id="10" name="TextBox 9">
            <a:extLst>
              <a:ext uri="{FF2B5EF4-FFF2-40B4-BE49-F238E27FC236}">
                <a16:creationId xmlns:a16="http://schemas.microsoft.com/office/drawing/2014/main" id="{A9A63BCC-CDE9-1154-B30D-96DB5884C937}"/>
              </a:ext>
            </a:extLst>
          </p:cNvPr>
          <p:cNvSpPr txBox="1"/>
          <p:nvPr/>
        </p:nvSpPr>
        <p:spPr>
          <a:xfrm>
            <a:off x="3851531" y="1855426"/>
            <a:ext cx="3877781" cy="1723549"/>
          </a:xfrm>
          <a:prstGeom prst="rect">
            <a:avLst/>
          </a:prstGeom>
          <a:noFill/>
        </p:spPr>
        <p:txBody>
          <a:bodyPr wrap="square" rtlCol="0">
            <a:spAutoFit/>
          </a:bodyPr>
          <a:lstStyle/>
          <a:p>
            <a:pPr algn="ctr"/>
            <a:r>
              <a:rPr lang="en-US" sz="2800" b="1" dirty="0">
                <a:solidFill>
                  <a:srgbClr val="00B0F0"/>
                </a:solidFill>
              </a:rPr>
              <a:t>02</a:t>
            </a:r>
            <a:endParaRPr lang="en-US" sz="2800" b="1" dirty="0">
              <a:solidFill>
                <a:srgbClr val="002060"/>
              </a:solidFill>
            </a:endParaRPr>
          </a:p>
          <a:p>
            <a:pPr algn="ctr"/>
            <a:r>
              <a:rPr lang="en-US" altLang="zh-CN" sz="2400" b="1" dirty="0"/>
              <a:t>Project Goals</a:t>
            </a:r>
          </a:p>
          <a:p>
            <a:pPr algn="ctr"/>
            <a:r>
              <a:rPr lang="en-US" dirty="0">
                <a:solidFill>
                  <a:srgbClr val="404040"/>
                </a:solidFill>
                <a:effectLst/>
                <a:latin typeface="Arial" panose="020B0604020202020204" pitchFamily="34" charset="0"/>
                <a:ea typeface="DengXian" panose="02010600030101010101" pitchFamily="2" charset="-122"/>
              </a:rPr>
              <a:t>Acquire Programming Skills</a:t>
            </a:r>
          </a:p>
          <a:p>
            <a:pPr algn="ctr"/>
            <a:r>
              <a:rPr lang="en-US" dirty="0">
                <a:solidFill>
                  <a:srgbClr val="404040"/>
                </a:solidFill>
                <a:effectLst/>
                <a:latin typeface="Arial" panose="020B0604020202020204" pitchFamily="34" charset="0"/>
                <a:ea typeface="DengXian" panose="02010600030101010101" pitchFamily="2" charset="-122"/>
              </a:rPr>
              <a:t>Deep Dive into the college I am interested in</a:t>
            </a:r>
          </a:p>
        </p:txBody>
      </p:sp>
      <p:sp>
        <p:nvSpPr>
          <p:cNvPr id="13" name="TextBox 12">
            <a:extLst>
              <a:ext uri="{FF2B5EF4-FFF2-40B4-BE49-F238E27FC236}">
                <a16:creationId xmlns:a16="http://schemas.microsoft.com/office/drawing/2014/main" id="{DBDCC99B-06F0-CB2F-AD5E-1D844ED89CA2}"/>
              </a:ext>
            </a:extLst>
          </p:cNvPr>
          <p:cNvSpPr txBox="1"/>
          <p:nvPr/>
        </p:nvSpPr>
        <p:spPr>
          <a:xfrm>
            <a:off x="7616458" y="1659886"/>
            <a:ext cx="4248541" cy="1723549"/>
          </a:xfrm>
          <a:prstGeom prst="rect">
            <a:avLst/>
          </a:prstGeom>
          <a:noFill/>
        </p:spPr>
        <p:txBody>
          <a:bodyPr wrap="square" rtlCol="0">
            <a:spAutoFit/>
          </a:bodyPr>
          <a:lstStyle/>
          <a:p>
            <a:pPr algn="ctr"/>
            <a:r>
              <a:rPr lang="en-US" sz="2800" b="1" dirty="0">
                <a:solidFill>
                  <a:srgbClr val="00B0F0"/>
                </a:solidFill>
              </a:rPr>
              <a:t>03</a:t>
            </a:r>
            <a:endParaRPr lang="en-US" sz="2800" b="1" dirty="0">
              <a:solidFill>
                <a:srgbClr val="002060"/>
              </a:solidFill>
            </a:endParaRPr>
          </a:p>
          <a:p>
            <a:pPr algn="ctr"/>
            <a:r>
              <a:rPr lang="en-US" altLang="zh-CN" sz="2400" b="1" dirty="0"/>
              <a:t>Project Stages</a:t>
            </a:r>
          </a:p>
          <a:p>
            <a:pPr algn="ctr"/>
            <a:r>
              <a:rPr lang="en-US" dirty="0">
                <a:solidFill>
                  <a:srgbClr val="404040"/>
                </a:solidFill>
                <a:latin typeface="Arial" panose="020B0604020202020204" pitchFamily="34" charset="0"/>
                <a:ea typeface="DengXian" panose="02010600030101010101" pitchFamily="2" charset="-122"/>
              </a:rPr>
              <a:t>Scraping Content</a:t>
            </a:r>
          </a:p>
          <a:p>
            <a:pPr algn="ctr"/>
            <a:r>
              <a:rPr lang="en-US" dirty="0">
                <a:solidFill>
                  <a:srgbClr val="404040"/>
                </a:solidFill>
                <a:latin typeface="Arial" panose="020B0604020202020204" pitchFamily="34" charset="0"/>
                <a:ea typeface="DengXian" panose="02010600030101010101" pitchFamily="2" charset="-122"/>
              </a:rPr>
              <a:t>Learn NLP</a:t>
            </a:r>
          </a:p>
          <a:p>
            <a:pPr algn="ctr"/>
            <a:r>
              <a:rPr lang="en-US" dirty="0">
                <a:solidFill>
                  <a:srgbClr val="404040"/>
                </a:solidFill>
                <a:latin typeface="Arial" panose="020B0604020202020204" pitchFamily="34" charset="0"/>
                <a:ea typeface="DengXian" panose="02010600030101010101" pitchFamily="2" charset="-122"/>
              </a:rPr>
              <a:t>Produce Insights</a:t>
            </a:r>
          </a:p>
        </p:txBody>
      </p:sp>
      <p:sp>
        <p:nvSpPr>
          <p:cNvPr id="14" name="TextBox 13">
            <a:extLst>
              <a:ext uri="{FF2B5EF4-FFF2-40B4-BE49-F238E27FC236}">
                <a16:creationId xmlns:a16="http://schemas.microsoft.com/office/drawing/2014/main" id="{6D0298F5-7975-CFC6-7FDB-D5077BADC8A1}"/>
              </a:ext>
            </a:extLst>
          </p:cNvPr>
          <p:cNvSpPr txBox="1"/>
          <p:nvPr/>
        </p:nvSpPr>
        <p:spPr>
          <a:xfrm>
            <a:off x="272490" y="3937434"/>
            <a:ext cx="3563007" cy="1169551"/>
          </a:xfrm>
          <a:prstGeom prst="rect">
            <a:avLst/>
          </a:prstGeom>
          <a:noFill/>
        </p:spPr>
        <p:txBody>
          <a:bodyPr wrap="square" rtlCol="0">
            <a:spAutoFit/>
          </a:bodyPr>
          <a:lstStyle/>
          <a:p>
            <a:pPr algn="ctr"/>
            <a:r>
              <a:rPr lang="en-US" sz="2800" b="1" dirty="0">
                <a:solidFill>
                  <a:srgbClr val="00B0F0"/>
                </a:solidFill>
              </a:rPr>
              <a:t>04</a:t>
            </a:r>
            <a:endParaRPr lang="en-US" sz="2800" b="1" dirty="0">
              <a:solidFill>
                <a:srgbClr val="002060"/>
              </a:solidFill>
            </a:endParaRPr>
          </a:p>
          <a:p>
            <a:pPr algn="ctr"/>
            <a:r>
              <a:rPr lang="en-US" altLang="zh-CN" sz="2400" b="1" dirty="0"/>
              <a:t>Who Are the Users</a:t>
            </a:r>
          </a:p>
          <a:p>
            <a:pPr algn="ctr"/>
            <a:r>
              <a:rPr lang="en-US" dirty="0">
                <a:solidFill>
                  <a:srgbClr val="404040"/>
                </a:solidFill>
                <a:latin typeface="Arial" panose="020B0604020202020204" pitchFamily="34" charset="0"/>
                <a:ea typeface="DengXian" panose="02010600030101010101" pitchFamily="2" charset="-122"/>
              </a:rPr>
              <a:t>My Self and My Friends</a:t>
            </a:r>
          </a:p>
        </p:txBody>
      </p:sp>
      <p:sp>
        <p:nvSpPr>
          <p:cNvPr id="15" name="TextBox 14">
            <a:extLst>
              <a:ext uri="{FF2B5EF4-FFF2-40B4-BE49-F238E27FC236}">
                <a16:creationId xmlns:a16="http://schemas.microsoft.com/office/drawing/2014/main" id="{012E6A74-0F59-D0E4-505F-8C13012E5CE5}"/>
              </a:ext>
            </a:extLst>
          </p:cNvPr>
          <p:cNvSpPr txBox="1"/>
          <p:nvPr/>
        </p:nvSpPr>
        <p:spPr>
          <a:xfrm>
            <a:off x="3994465" y="3937434"/>
            <a:ext cx="3563007" cy="1169551"/>
          </a:xfrm>
          <a:prstGeom prst="rect">
            <a:avLst/>
          </a:prstGeom>
          <a:noFill/>
        </p:spPr>
        <p:txBody>
          <a:bodyPr wrap="square" rtlCol="0">
            <a:spAutoFit/>
          </a:bodyPr>
          <a:lstStyle/>
          <a:p>
            <a:pPr algn="ctr"/>
            <a:r>
              <a:rPr lang="en-US" sz="2800" b="1" dirty="0">
                <a:solidFill>
                  <a:srgbClr val="00B0F0"/>
                </a:solidFill>
              </a:rPr>
              <a:t>05</a:t>
            </a:r>
            <a:endParaRPr lang="en-US" sz="2800" b="1" dirty="0">
              <a:solidFill>
                <a:srgbClr val="002060"/>
              </a:solidFill>
            </a:endParaRPr>
          </a:p>
          <a:p>
            <a:pPr algn="ctr"/>
            <a:r>
              <a:rPr lang="en-US" altLang="zh-CN" sz="2400" b="1" dirty="0"/>
              <a:t>Timeline </a:t>
            </a:r>
          </a:p>
          <a:p>
            <a:pPr algn="ctr"/>
            <a:r>
              <a:rPr lang="en-US" altLang="zh-CN" dirty="0">
                <a:solidFill>
                  <a:srgbClr val="404040"/>
                </a:solidFill>
                <a:latin typeface="Arial" panose="020B0604020202020204" pitchFamily="34" charset="0"/>
                <a:ea typeface="DengXian" panose="02010600030101010101" pitchFamily="2" charset="-122"/>
              </a:rPr>
              <a:t>Next 10 Lessons!</a:t>
            </a:r>
            <a:endParaRPr lang="en-US" dirty="0">
              <a:solidFill>
                <a:srgbClr val="404040"/>
              </a:solidFill>
              <a:latin typeface="Arial" panose="020B0604020202020204" pitchFamily="34" charset="0"/>
              <a:ea typeface="DengXian" panose="02010600030101010101" pitchFamily="2" charset="-122"/>
            </a:endParaRPr>
          </a:p>
        </p:txBody>
      </p:sp>
      <p:sp>
        <p:nvSpPr>
          <p:cNvPr id="16" name="TextBox 15">
            <a:extLst>
              <a:ext uri="{FF2B5EF4-FFF2-40B4-BE49-F238E27FC236}">
                <a16:creationId xmlns:a16="http://schemas.microsoft.com/office/drawing/2014/main" id="{72A9890A-9209-06CA-25FA-967B5F1684BC}"/>
              </a:ext>
            </a:extLst>
          </p:cNvPr>
          <p:cNvSpPr txBox="1"/>
          <p:nvPr/>
        </p:nvSpPr>
        <p:spPr>
          <a:xfrm>
            <a:off x="7729312" y="3926351"/>
            <a:ext cx="3563007" cy="1169551"/>
          </a:xfrm>
          <a:prstGeom prst="rect">
            <a:avLst/>
          </a:prstGeom>
          <a:noFill/>
        </p:spPr>
        <p:txBody>
          <a:bodyPr wrap="square" rtlCol="0">
            <a:spAutoFit/>
          </a:bodyPr>
          <a:lstStyle/>
          <a:p>
            <a:pPr algn="ctr"/>
            <a:r>
              <a:rPr lang="en-US" sz="2800" b="1" dirty="0">
                <a:solidFill>
                  <a:srgbClr val="00B0F0"/>
                </a:solidFill>
              </a:rPr>
              <a:t>06</a:t>
            </a:r>
            <a:endParaRPr lang="en-US" sz="2800" b="1" dirty="0">
              <a:solidFill>
                <a:srgbClr val="002060"/>
              </a:solidFill>
            </a:endParaRPr>
          </a:p>
          <a:p>
            <a:pPr algn="ctr"/>
            <a:r>
              <a:rPr lang="en-US" altLang="zh-CN" sz="2400" b="1" dirty="0"/>
              <a:t>The Team </a:t>
            </a:r>
          </a:p>
          <a:p>
            <a:pPr algn="ctr"/>
            <a:r>
              <a:rPr lang="en-US" altLang="zh-CN" dirty="0">
                <a:solidFill>
                  <a:srgbClr val="404040"/>
                </a:solidFill>
                <a:latin typeface="Arial" panose="020B0604020202020204" pitchFamily="34" charset="0"/>
                <a:ea typeface="DengXian" panose="02010600030101010101" pitchFamily="2" charset="-122"/>
              </a:rPr>
              <a:t>The Campers!</a:t>
            </a:r>
            <a:endParaRPr lang="en-US" dirty="0">
              <a:solidFill>
                <a:srgbClr val="404040"/>
              </a:solidFill>
              <a:latin typeface="Arial" panose="020B0604020202020204" pitchFamily="34" charset="0"/>
              <a:ea typeface="DengXian" panose="02010600030101010101" pitchFamily="2" charset="-122"/>
            </a:endParaRPr>
          </a:p>
        </p:txBody>
      </p:sp>
      <p:sp>
        <p:nvSpPr>
          <p:cNvPr id="18" name="TextBox 17">
            <a:extLst>
              <a:ext uri="{FF2B5EF4-FFF2-40B4-BE49-F238E27FC236}">
                <a16:creationId xmlns:a16="http://schemas.microsoft.com/office/drawing/2014/main" id="{4B1CC00E-392D-D556-EE4B-DCDAAB343809}"/>
              </a:ext>
            </a:extLst>
          </p:cNvPr>
          <p:cNvSpPr txBox="1"/>
          <p:nvPr/>
        </p:nvSpPr>
        <p:spPr>
          <a:xfrm>
            <a:off x="9553903" y="6488668"/>
            <a:ext cx="2638097" cy="369332"/>
          </a:xfrm>
          <a:prstGeom prst="rect">
            <a:avLst/>
          </a:prstGeom>
          <a:noFill/>
        </p:spPr>
        <p:txBody>
          <a:bodyPr wrap="square" rtlCol="0">
            <a:spAutoFit/>
          </a:bodyPr>
          <a:lstStyle/>
          <a:p>
            <a:r>
              <a:rPr lang="en-US" altLang="zh-CN" b="1" dirty="0">
                <a:solidFill>
                  <a:schemeClr val="bg1">
                    <a:lumMod val="85000"/>
                  </a:schemeClr>
                </a:solidFill>
              </a:rPr>
              <a:t>Stem Pro Academy, 2022</a:t>
            </a:r>
            <a:endParaRPr lang="en-US" b="1" dirty="0">
              <a:solidFill>
                <a:schemeClr val="bg1">
                  <a:lumMod val="85000"/>
                </a:schemeClr>
              </a:solidFill>
            </a:endParaRPr>
          </a:p>
        </p:txBody>
      </p:sp>
    </p:spTree>
    <p:extLst>
      <p:ext uri="{BB962C8B-B14F-4D97-AF65-F5344CB8AC3E}">
        <p14:creationId xmlns:p14="http://schemas.microsoft.com/office/powerpoint/2010/main" val="3869490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275593B5-98DB-FD85-87E2-F3D3D8296617}"/>
              </a:ext>
            </a:extLst>
          </p:cNvPr>
          <p:cNvSpPr txBox="1"/>
          <p:nvPr/>
        </p:nvSpPr>
        <p:spPr>
          <a:xfrm>
            <a:off x="209027" y="1536776"/>
            <a:ext cx="11676993" cy="4524315"/>
          </a:xfrm>
          <a:prstGeom prst="rect">
            <a:avLst/>
          </a:prstGeom>
          <a:solidFill>
            <a:schemeClr val="tx2">
              <a:lumMod val="20000"/>
              <a:lumOff val="80000"/>
            </a:schemeClr>
          </a:solid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F19762D9-7C7C-B5F0-5954-BEF25A6623EA}"/>
              </a:ext>
            </a:extLst>
          </p:cNvPr>
          <p:cNvSpPr>
            <a:spLocks noGrp="1"/>
          </p:cNvSpPr>
          <p:nvPr>
            <p:ph type="ctrTitle"/>
          </p:nvPr>
        </p:nvSpPr>
        <p:spPr>
          <a:xfrm>
            <a:off x="2312276" y="420414"/>
            <a:ext cx="6999890" cy="1373457"/>
          </a:xfrm>
          <a:solidFill>
            <a:srgbClr val="00B0F0"/>
          </a:solidFill>
        </p:spPr>
        <p:txBody>
          <a:bodyPr anchor="ctr">
            <a:normAutofit/>
          </a:bodyPr>
          <a:lstStyle/>
          <a:p>
            <a:r>
              <a:rPr lang="en-US" altLang="zh-CN" sz="3600" dirty="0">
                <a:solidFill>
                  <a:schemeClr val="bg1">
                    <a:lumMod val="95000"/>
                  </a:schemeClr>
                </a:solidFill>
              </a:rPr>
              <a:t>Stock Market Fun!</a:t>
            </a:r>
            <a:endParaRPr lang="en-US" dirty="0">
              <a:solidFill>
                <a:schemeClr val="bg1">
                  <a:lumMod val="95000"/>
                </a:schemeClr>
              </a:solidFill>
            </a:endParaRPr>
          </a:p>
        </p:txBody>
      </p:sp>
      <p:sp>
        <p:nvSpPr>
          <p:cNvPr id="5" name="TextBox 4">
            <a:extLst>
              <a:ext uri="{FF2B5EF4-FFF2-40B4-BE49-F238E27FC236}">
                <a16:creationId xmlns:a16="http://schemas.microsoft.com/office/drawing/2014/main" id="{5F90A810-7A52-C852-9E62-CDDEA38EDFBD}"/>
              </a:ext>
            </a:extLst>
          </p:cNvPr>
          <p:cNvSpPr txBox="1"/>
          <p:nvPr/>
        </p:nvSpPr>
        <p:spPr>
          <a:xfrm>
            <a:off x="209027" y="1783572"/>
            <a:ext cx="3563007" cy="1723549"/>
          </a:xfrm>
          <a:prstGeom prst="rect">
            <a:avLst/>
          </a:prstGeom>
          <a:noFill/>
        </p:spPr>
        <p:txBody>
          <a:bodyPr wrap="square" rtlCol="0">
            <a:spAutoFit/>
          </a:bodyPr>
          <a:lstStyle/>
          <a:p>
            <a:pPr algn="ctr"/>
            <a:r>
              <a:rPr lang="en-US" sz="2800" b="1" dirty="0">
                <a:solidFill>
                  <a:srgbClr val="00B0F0"/>
                </a:solidFill>
              </a:rPr>
              <a:t>01</a:t>
            </a:r>
          </a:p>
          <a:p>
            <a:pPr algn="ctr"/>
            <a:r>
              <a:rPr lang="en-US" altLang="zh-CN" sz="2400" b="1" dirty="0"/>
              <a:t>About the Project</a:t>
            </a:r>
          </a:p>
          <a:p>
            <a:pPr algn="ctr"/>
            <a:r>
              <a:rPr lang="en-US" dirty="0">
                <a:solidFill>
                  <a:srgbClr val="404040"/>
                </a:solidFill>
                <a:latin typeface="Arial" panose="020B0604020202020204" pitchFamily="34" charset="0"/>
                <a:ea typeface="DengXian" panose="02010600030101010101" pitchFamily="2" charset="-122"/>
              </a:rPr>
              <a:t>Use stock market data to generate a linear model for stock price prediction</a:t>
            </a:r>
            <a:endParaRPr lang="en-US" dirty="0"/>
          </a:p>
        </p:txBody>
      </p:sp>
      <p:sp>
        <p:nvSpPr>
          <p:cNvPr id="10" name="TextBox 9">
            <a:extLst>
              <a:ext uri="{FF2B5EF4-FFF2-40B4-BE49-F238E27FC236}">
                <a16:creationId xmlns:a16="http://schemas.microsoft.com/office/drawing/2014/main" id="{A9A63BCC-CDE9-1154-B30D-96DB5884C937}"/>
              </a:ext>
            </a:extLst>
          </p:cNvPr>
          <p:cNvSpPr txBox="1"/>
          <p:nvPr/>
        </p:nvSpPr>
        <p:spPr>
          <a:xfrm>
            <a:off x="3851531" y="1855426"/>
            <a:ext cx="3877781" cy="1723549"/>
          </a:xfrm>
          <a:prstGeom prst="rect">
            <a:avLst/>
          </a:prstGeom>
          <a:noFill/>
        </p:spPr>
        <p:txBody>
          <a:bodyPr wrap="square" rtlCol="0">
            <a:spAutoFit/>
          </a:bodyPr>
          <a:lstStyle/>
          <a:p>
            <a:pPr algn="ctr"/>
            <a:r>
              <a:rPr lang="en-US" sz="2800" b="1" dirty="0">
                <a:solidFill>
                  <a:srgbClr val="00B0F0"/>
                </a:solidFill>
              </a:rPr>
              <a:t>02</a:t>
            </a:r>
            <a:endParaRPr lang="en-US" sz="2800" b="1" dirty="0">
              <a:solidFill>
                <a:srgbClr val="002060"/>
              </a:solidFill>
            </a:endParaRPr>
          </a:p>
          <a:p>
            <a:pPr algn="ctr"/>
            <a:r>
              <a:rPr lang="en-US" altLang="zh-CN" sz="2400" b="1" dirty="0"/>
              <a:t>Project Goals</a:t>
            </a:r>
          </a:p>
          <a:p>
            <a:pPr algn="ctr"/>
            <a:r>
              <a:rPr lang="en-US" dirty="0">
                <a:solidFill>
                  <a:srgbClr val="404040"/>
                </a:solidFill>
                <a:effectLst/>
                <a:latin typeface="Arial" panose="020B0604020202020204" pitchFamily="34" charset="0"/>
                <a:ea typeface="DengXian" panose="02010600030101010101" pitchFamily="2" charset="-122"/>
              </a:rPr>
              <a:t>Acquire Programming Skills</a:t>
            </a:r>
          </a:p>
          <a:p>
            <a:pPr algn="ctr"/>
            <a:r>
              <a:rPr lang="en-US" dirty="0">
                <a:solidFill>
                  <a:srgbClr val="404040"/>
                </a:solidFill>
                <a:effectLst/>
                <a:latin typeface="Arial" panose="020B0604020202020204" pitchFamily="34" charset="0"/>
                <a:ea typeface="DengXian" panose="02010600030101010101" pitchFamily="2" charset="-122"/>
              </a:rPr>
              <a:t>Deep Dive </a:t>
            </a:r>
            <a:r>
              <a:rPr lang="en-US" altLang="zh-CN" dirty="0">
                <a:solidFill>
                  <a:srgbClr val="404040"/>
                </a:solidFill>
                <a:effectLst/>
                <a:latin typeface="Arial" panose="020B0604020202020204" pitchFamily="34" charset="0"/>
                <a:ea typeface="DengXian" panose="02010600030101010101" pitchFamily="2" charset="-122"/>
              </a:rPr>
              <a:t>into Linear regression and math behind it</a:t>
            </a:r>
            <a:endParaRPr lang="en-US" dirty="0">
              <a:solidFill>
                <a:srgbClr val="404040"/>
              </a:solidFill>
              <a:effectLst/>
              <a:latin typeface="Arial" panose="020B0604020202020204" pitchFamily="34" charset="0"/>
              <a:ea typeface="DengXian" panose="02010600030101010101" pitchFamily="2" charset="-122"/>
            </a:endParaRPr>
          </a:p>
        </p:txBody>
      </p:sp>
      <p:sp>
        <p:nvSpPr>
          <p:cNvPr id="13" name="TextBox 12">
            <a:extLst>
              <a:ext uri="{FF2B5EF4-FFF2-40B4-BE49-F238E27FC236}">
                <a16:creationId xmlns:a16="http://schemas.microsoft.com/office/drawing/2014/main" id="{DBDCC99B-06F0-CB2F-AD5E-1D844ED89CA2}"/>
              </a:ext>
            </a:extLst>
          </p:cNvPr>
          <p:cNvSpPr txBox="1"/>
          <p:nvPr/>
        </p:nvSpPr>
        <p:spPr>
          <a:xfrm>
            <a:off x="7616458" y="1659886"/>
            <a:ext cx="4248541" cy="1446550"/>
          </a:xfrm>
          <a:prstGeom prst="rect">
            <a:avLst/>
          </a:prstGeom>
          <a:noFill/>
        </p:spPr>
        <p:txBody>
          <a:bodyPr wrap="square" rtlCol="0">
            <a:spAutoFit/>
          </a:bodyPr>
          <a:lstStyle/>
          <a:p>
            <a:pPr algn="ctr"/>
            <a:r>
              <a:rPr lang="en-US" sz="2800" b="1" dirty="0">
                <a:solidFill>
                  <a:srgbClr val="00B0F0"/>
                </a:solidFill>
              </a:rPr>
              <a:t>03</a:t>
            </a:r>
            <a:endParaRPr lang="en-US" sz="2800" b="1" dirty="0">
              <a:solidFill>
                <a:srgbClr val="002060"/>
              </a:solidFill>
            </a:endParaRPr>
          </a:p>
          <a:p>
            <a:pPr algn="ctr"/>
            <a:r>
              <a:rPr lang="en-US" altLang="zh-CN" sz="2400" b="1" dirty="0"/>
              <a:t>Project Stages</a:t>
            </a:r>
          </a:p>
          <a:p>
            <a:pPr algn="ctr"/>
            <a:r>
              <a:rPr lang="en-US" dirty="0">
                <a:solidFill>
                  <a:srgbClr val="404040"/>
                </a:solidFill>
                <a:latin typeface="Arial" panose="020B0604020202020204" pitchFamily="34" charset="0"/>
                <a:ea typeface="DengXian" panose="02010600030101010101" pitchFamily="2" charset="-122"/>
              </a:rPr>
              <a:t>Acquire historical stock market data</a:t>
            </a:r>
          </a:p>
          <a:p>
            <a:pPr algn="ctr"/>
            <a:r>
              <a:rPr lang="en-US" dirty="0">
                <a:solidFill>
                  <a:srgbClr val="404040"/>
                </a:solidFill>
                <a:latin typeface="Arial" panose="020B0604020202020204" pitchFamily="34" charset="0"/>
                <a:ea typeface="DengXian" panose="02010600030101010101" pitchFamily="2" charset="-122"/>
              </a:rPr>
              <a:t>Build </a:t>
            </a:r>
            <a:r>
              <a:rPr lang="en-US" altLang="zh-CN" dirty="0">
                <a:solidFill>
                  <a:srgbClr val="404040"/>
                </a:solidFill>
                <a:latin typeface="Arial" panose="020B0604020202020204" pitchFamily="34" charset="0"/>
                <a:ea typeface="DengXian" panose="02010600030101010101" pitchFamily="2" charset="-122"/>
              </a:rPr>
              <a:t>linear models</a:t>
            </a:r>
            <a:r>
              <a:rPr lang="en-US" dirty="0">
                <a:solidFill>
                  <a:srgbClr val="404040"/>
                </a:solidFill>
                <a:latin typeface="Arial" panose="020B0604020202020204" pitchFamily="34" charset="0"/>
                <a:ea typeface="DengXian" panose="02010600030101010101" pitchFamily="2" charset="-122"/>
              </a:rPr>
              <a:t> </a:t>
            </a:r>
          </a:p>
        </p:txBody>
      </p:sp>
      <p:sp>
        <p:nvSpPr>
          <p:cNvPr id="14" name="TextBox 13">
            <a:extLst>
              <a:ext uri="{FF2B5EF4-FFF2-40B4-BE49-F238E27FC236}">
                <a16:creationId xmlns:a16="http://schemas.microsoft.com/office/drawing/2014/main" id="{6D0298F5-7975-CFC6-7FDB-D5077BADC8A1}"/>
              </a:ext>
            </a:extLst>
          </p:cNvPr>
          <p:cNvSpPr txBox="1"/>
          <p:nvPr/>
        </p:nvSpPr>
        <p:spPr>
          <a:xfrm>
            <a:off x="272490" y="3937434"/>
            <a:ext cx="3563007" cy="1169551"/>
          </a:xfrm>
          <a:prstGeom prst="rect">
            <a:avLst/>
          </a:prstGeom>
          <a:noFill/>
        </p:spPr>
        <p:txBody>
          <a:bodyPr wrap="square" rtlCol="0">
            <a:spAutoFit/>
          </a:bodyPr>
          <a:lstStyle/>
          <a:p>
            <a:pPr algn="ctr"/>
            <a:r>
              <a:rPr lang="en-US" sz="2800" b="1" dirty="0">
                <a:solidFill>
                  <a:srgbClr val="00B0F0"/>
                </a:solidFill>
              </a:rPr>
              <a:t>04</a:t>
            </a:r>
            <a:endParaRPr lang="en-US" sz="2800" b="1" dirty="0">
              <a:solidFill>
                <a:srgbClr val="002060"/>
              </a:solidFill>
            </a:endParaRPr>
          </a:p>
          <a:p>
            <a:pPr algn="ctr"/>
            <a:r>
              <a:rPr lang="en-US" altLang="zh-CN" sz="2400" b="1" dirty="0"/>
              <a:t>Who Are the Users</a:t>
            </a:r>
          </a:p>
          <a:p>
            <a:pPr algn="ctr"/>
            <a:r>
              <a:rPr lang="en-US" dirty="0">
                <a:solidFill>
                  <a:srgbClr val="404040"/>
                </a:solidFill>
                <a:latin typeface="Arial" panose="020B0604020202020204" pitchFamily="34" charset="0"/>
                <a:ea typeface="DengXian" panose="02010600030101010101" pitchFamily="2" charset="-122"/>
              </a:rPr>
              <a:t>My Self and My Friends</a:t>
            </a:r>
          </a:p>
        </p:txBody>
      </p:sp>
      <p:sp>
        <p:nvSpPr>
          <p:cNvPr id="15" name="TextBox 14">
            <a:extLst>
              <a:ext uri="{FF2B5EF4-FFF2-40B4-BE49-F238E27FC236}">
                <a16:creationId xmlns:a16="http://schemas.microsoft.com/office/drawing/2014/main" id="{012E6A74-0F59-D0E4-505F-8C13012E5CE5}"/>
              </a:ext>
            </a:extLst>
          </p:cNvPr>
          <p:cNvSpPr txBox="1"/>
          <p:nvPr/>
        </p:nvSpPr>
        <p:spPr>
          <a:xfrm>
            <a:off x="3994465" y="3937434"/>
            <a:ext cx="3563007" cy="1169551"/>
          </a:xfrm>
          <a:prstGeom prst="rect">
            <a:avLst/>
          </a:prstGeom>
          <a:noFill/>
        </p:spPr>
        <p:txBody>
          <a:bodyPr wrap="square" rtlCol="0">
            <a:spAutoFit/>
          </a:bodyPr>
          <a:lstStyle/>
          <a:p>
            <a:pPr algn="ctr"/>
            <a:r>
              <a:rPr lang="en-US" sz="2800" b="1" dirty="0">
                <a:solidFill>
                  <a:srgbClr val="00B0F0"/>
                </a:solidFill>
              </a:rPr>
              <a:t>05</a:t>
            </a:r>
            <a:endParaRPr lang="en-US" sz="2800" b="1" dirty="0">
              <a:solidFill>
                <a:srgbClr val="002060"/>
              </a:solidFill>
            </a:endParaRPr>
          </a:p>
          <a:p>
            <a:pPr algn="ctr"/>
            <a:r>
              <a:rPr lang="en-US" altLang="zh-CN" sz="2400" b="1" dirty="0"/>
              <a:t>Timeline </a:t>
            </a:r>
          </a:p>
          <a:p>
            <a:pPr algn="ctr"/>
            <a:r>
              <a:rPr lang="en-US" altLang="zh-CN" dirty="0">
                <a:solidFill>
                  <a:srgbClr val="404040"/>
                </a:solidFill>
                <a:latin typeface="Arial" panose="020B0604020202020204" pitchFamily="34" charset="0"/>
                <a:ea typeface="DengXian" panose="02010600030101010101" pitchFamily="2" charset="-122"/>
              </a:rPr>
              <a:t>Next 10 Lessons!</a:t>
            </a:r>
            <a:endParaRPr lang="en-US" dirty="0">
              <a:solidFill>
                <a:srgbClr val="404040"/>
              </a:solidFill>
              <a:latin typeface="Arial" panose="020B0604020202020204" pitchFamily="34" charset="0"/>
              <a:ea typeface="DengXian" panose="02010600030101010101" pitchFamily="2" charset="-122"/>
            </a:endParaRPr>
          </a:p>
        </p:txBody>
      </p:sp>
      <p:sp>
        <p:nvSpPr>
          <p:cNvPr id="16" name="TextBox 15">
            <a:extLst>
              <a:ext uri="{FF2B5EF4-FFF2-40B4-BE49-F238E27FC236}">
                <a16:creationId xmlns:a16="http://schemas.microsoft.com/office/drawing/2014/main" id="{72A9890A-9209-06CA-25FA-967B5F1684BC}"/>
              </a:ext>
            </a:extLst>
          </p:cNvPr>
          <p:cNvSpPr txBox="1"/>
          <p:nvPr/>
        </p:nvSpPr>
        <p:spPr>
          <a:xfrm>
            <a:off x="7729312" y="3926351"/>
            <a:ext cx="3563007" cy="1169551"/>
          </a:xfrm>
          <a:prstGeom prst="rect">
            <a:avLst/>
          </a:prstGeom>
          <a:noFill/>
        </p:spPr>
        <p:txBody>
          <a:bodyPr wrap="square" rtlCol="0">
            <a:spAutoFit/>
          </a:bodyPr>
          <a:lstStyle/>
          <a:p>
            <a:pPr algn="ctr"/>
            <a:r>
              <a:rPr lang="en-US" sz="2800" b="1" dirty="0">
                <a:solidFill>
                  <a:srgbClr val="00B0F0"/>
                </a:solidFill>
              </a:rPr>
              <a:t>06</a:t>
            </a:r>
            <a:endParaRPr lang="en-US" sz="2800" b="1" dirty="0">
              <a:solidFill>
                <a:srgbClr val="002060"/>
              </a:solidFill>
            </a:endParaRPr>
          </a:p>
          <a:p>
            <a:pPr algn="ctr"/>
            <a:r>
              <a:rPr lang="en-US" altLang="zh-CN" sz="2400" b="1" dirty="0"/>
              <a:t>The Team </a:t>
            </a:r>
          </a:p>
          <a:p>
            <a:pPr algn="ctr"/>
            <a:r>
              <a:rPr lang="en-US" altLang="zh-CN" dirty="0">
                <a:solidFill>
                  <a:srgbClr val="404040"/>
                </a:solidFill>
                <a:latin typeface="Arial" panose="020B0604020202020204" pitchFamily="34" charset="0"/>
                <a:ea typeface="DengXian" panose="02010600030101010101" pitchFamily="2" charset="-122"/>
              </a:rPr>
              <a:t>The Campers!</a:t>
            </a:r>
            <a:endParaRPr lang="en-US" dirty="0">
              <a:solidFill>
                <a:srgbClr val="404040"/>
              </a:solidFill>
              <a:latin typeface="Arial" panose="020B0604020202020204" pitchFamily="34" charset="0"/>
              <a:ea typeface="DengXian" panose="02010600030101010101" pitchFamily="2" charset="-122"/>
            </a:endParaRPr>
          </a:p>
        </p:txBody>
      </p:sp>
      <p:sp>
        <p:nvSpPr>
          <p:cNvPr id="18" name="TextBox 17">
            <a:extLst>
              <a:ext uri="{FF2B5EF4-FFF2-40B4-BE49-F238E27FC236}">
                <a16:creationId xmlns:a16="http://schemas.microsoft.com/office/drawing/2014/main" id="{4B1CC00E-392D-D556-EE4B-DCDAAB343809}"/>
              </a:ext>
            </a:extLst>
          </p:cNvPr>
          <p:cNvSpPr txBox="1"/>
          <p:nvPr/>
        </p:nvSpPr>
        <p:spPr>
          <a:xfrm>
            <a:off x="9553903" y="6488668"/>
            <a:ext cx="2638097" cy="369332"/>
          </a:xfrm>
          <a:prstGeom prst="rect">
            <a:avLst/>
          </a:prstGeom>
          <a:noFill/>
        </p:spPr>
        <p:txBody>
          <a:bodyPr wrap="square" rtlCol="0">
            <a:spAutoFit/>
          </a:bodyPr>
          <a:lstStyle/>
          <a:p>
            <a:r>
              <a:rPr lang="en-US" altLang="zh-CN" b="1" dirty="0">
                <a:solidFill>
                  <a:schemeClr val="bg1">
                    <a:lumMod val="85000"/>
                  </a:schemeClr>
                </a:solidFill>
              </a:rPr>
              <a:t>Stem Pro Academy, 2022</a:t>
            </a:r>
            <a:endParaRPr lang="en-US" b="1" dirty="0">
              <a:solidFill>
                <a:schemeClr val="bg1">
                  <a:lumMod val="85000"/>
                </a:schemeClr>
              </a:solidFill>
            </a:endParaRPr>
          </a:p>
        </p:txBody>
      </p:sp>
    </p:spTree>
    <p:extLst>
      <p:ext uri="{BB962C8B-B14F-4D97-AF65-F5344CB8AC3E}">
        <p14:creationId xmlns:p14="http://schemas.microsoft.com/office/powerpoint/2010/main" val="1960444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275593B5-98DB-FD85-87E2-F3D3D8296617}"/>
              </a:ext>
            </a:extLst>
          </p:cNvPr>
          <p:cNvSpPr txBox="1"/>
          <p:nvPr/>
        </p:nvSpPr>
        <p:spPr>
          <a:xfrm>
            <a:off x="257503" y="1189934"/>
            <a:ext cx="11676993" cy="5632311"/>
          </a:xfrm>
          <a:prstGeom prst="rect">
            <a:avLst/>
          </a:prstGeom>
          <a:solidFill>
            <a:schemeClr val="tx2">
              <a:lumMod val="20000"/>
              <a:lumOff val="80000"/>
            </a:schemeClr>
          </a:solid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F19762D9-7C7C-B5F0-5954-BEF25A6623EA}"/>
              </a:ext>
            </a:extLst>
          </p:cNvPr>
          <p:cNvSpPr>
            <a:spLocks noGrp="1"/>
          </p:cNvSpPr>
          <p:nvPr>
            <p:ph type="ctrTitle"/>
          </p:nvPr>
        </p:nvSpPr>
        <p:spPr>
          <a:xfrm>
            <a:off x="2354317" y="143768"/>
            <a:ext cx="6999890" cy="1373457"/>
          </a:xfrm>
          <a:solidFill>
            <a:srgbClr val="00B0F0"/>
          </a:solidFill>
        </p:spPr>
        <p:txBody>
          <a:bodyPr anchor="ctr">
            <a:noAutofit/>
          </a:bodyPr>
          <a:lstStyle/>
          <a:p>
            <a:r>
              <a:rPr lang="en-US" altLang="zh-CN" sz="3600" dirty="0">
                <a:solidFill>
                  <a:schemeClr val="bg1">
                    <a:lumMod val="95000"/>
                  </a:schemeClr>
                </a:solidFill>
              </a:rPr>
              <a:t>Project Conventions and Principles</a:t>
            </a:r>
            <a:endParaRPr lang="en-US" sz="3600" dirty="0">
              <a:solidFill>
                <a:schemeClr val="bg1">
                  <a:lumMod val="95000"/>
                </a:schemeClr>
              </a:solidFill>
            </a:endParaRPr>
          </a:p>
        </p:txBody>
      </p:sp>
      <p:sp>
        <p:nvSpPr>
          <p:cNvPr id="5" name="TextBox 4">
            <a:extLst>
              <a:ext uri="{FF2B5EF4-FFF2-40B4-BE49-F238E27FC236}">
                <a16:creationId xmlns:a16="http://schemas.microsoft.com/office/drawing/2014/main" id="{5F90A810-7A52-C852-9E62-CDDEA38EDFBD}"/>
              </a:ext>
            </a:extLst>
          </p:cNvPr>
          <p:cNvSpPr txBox="1"/>
          <p:nvPr/>
        </p:nvSpPr>
        <p:spPr>
          <a:xfrm>
            <a:off x="331075" y="1415498"/>
            <a:ext cx="11676993" cy="5355312"/>
          </a:xfrm>
          <a:prstGeom prst="rect">
            <a:avLst/>
          </a:prstGeom>
          <a:noFill/>
        </p:spPr>
        <p:txBody>
          <a:bodyPr wrap="square" rtlCol="0">
            <a:spAutoFit/>
          </a:bodyPr>
          <a:lstStyle/>
          <a:p>
            <a:r>
              <a:rPr lang="en-US" sz="2400" b="1" dirty="0">
                <a:solidFill>
                  <a:srgbClr val="00B0F0"/>
                </a:solidFill>
                <a:latin typeface="+mj-lt"/>
              </a:rPr>
              <a:t>1</a:t>
            </a:r>
            <a:r>
              <a:rPr lang="en-US" sz="2000" b="1" dirty="0">
                <a:solidFill>
                  <a:srgbClr val="00B0F0"/>
                </a:solidFill>
                <a:latin typeface="+mj-lt"/>
              </a:rPr>
              <a:t> </a:t>
            </a:r>
            <a:r>
              <a:rPr lang="en-US" altLang="zh-CN" sz="2000" b="1" dirty="0">
                <a:latin typeface="+mj-lt"/>
              </a:rPr>
              <a:t>Learning Style:  R3 -Receive, Review and Return</a:t>
            </a:r>
          </a:p>
          <a:p>
            <a:r>
              <a:rPr lang="en-US" altLang="zh-CN" sz="2000" dirty="0">
                <a:solidFill>
                  <a:srgbClr val="404040"/>
                </a:solidFill>
                <a:effectLst/>
                <a:latin typeface="+mj-lt"/>
                <a:ea typeface="DengXian" panose="02010600030101010101" pitchFamily="2" charset="-122"/>
              </a:rPr>
              <a:t>Receive: Learn and practice during lecture time</a:t>
            </a:r>
          </a:p>
          <a:p>
            <a:r>
              <a:rPr lang="en-US" altLang="zh-CN" sz="2000" dirty="0">
                <a:solidFill>
                  <a:srgbClr val="404040"/>
                </a:solidFill>
                <a:effectLst/>
                <a:latin typeface="+mj-lt"/>
                <a:ea typeface="DengXian" panose="02010600030101010101" pitchFamily="2" charset="-122"/>
              </a:rPr>
              <a:t>Review: Review and summarize what you have learnt, and</a:t>
            </a:r>
          </a:p>
          <a:p>
            <a:r>
              <a:rPr lang="en-US" altLang="zh-CN" sz="2000" dirty="0">
                <a:solidFill>
                  <a:srgbClr val="404040"/>
                </a:solidFill>
                <a:effectLst/>
                <a:latin typeface="+mj-lt"/>
                <a:ea typeface="DengXian" panose="02010600030101010101" pitchFamily="2" charset="-122"/>
              </a:rPr>
              <a:t>Return: Give challenge back with similar or more challenging questions</a:t>
            </a:r>
            <a:endParaRPr lang="en-US" sz="2000" dirty="0">
              <a:solidFill>
                <a:srgbClr val="404040"/>
              </a:solidFill>
              <a:effectLst/>
              <a:latin typeface="+mj-lt"/>
              <a:ea typeface="DengXian" panose="02010600030101010101" pitchFamily="2" charset="-122"/>
            </a:endParaRPr>
          </a:p>
          <a:p>
            <a:endParaRPr lang="en-US" sz="2000" b="1" dirty="0">
              <a:solidFill>
                <a:srgbClr val="00B0F0"/>
              </a:solidFill>
              <a:latin typeface="+mj-lt"/>
            </a:endParaRPr>
          </a:p>
          <a:p>
            <a:r>
              <a:rPr lang="en-US" sz="2000" b="1" dirty="0">
                <a:solidFill>
                  <a:srgbClr val="00B0F0"/>
                </a:solidFill>
                <a:latin typeface="+mj-lt"/>
              </a:rPr>
              <a:t>2 </a:t>
            </a:r>
            <a:r>
              <a:rPr lang="en-US" altLang="zh-CN" sz="2000" b="1" dirty="0">
                <a:latin typeface="+mj-lt"/>
              </a:rPr>
              <a:t>Homework</a:t>
            </a:r>
          </a:p>
          <a:p>
            <a:r>
              <a:rPr lang="en-US" sz="2000" dirty="0">
                <a:solidFill>
                  <a:srgbClr val="404040"/>
                </a:solidFill>
                <a:latin typeface="+mj-lt"/>
                <a:ea typeface="DengXian" panose="02010600030101010101" pitchFamily="2" charset="-122"/>
              </a:rPr>
              <a:t>~ </a:t>
            </a:r>
            <a:r>
              <a:rPr lang="en-US" sz="2000" dirty="0">
                <a:solidFill>
                  <a:srgbClr val="404040"/>
                </a:solidFill>
                <a:effectLst/>
                <a:latin typeface="+mj-lt"/>
                <a:ea typeface="DengXian" panose="02010600030101010101" pitchFamily="2" charset="-122"/>
              </a:rPr>
              <a:t>Two hours of additional hours of study/work per week. </a:t>
            </a:r>
          </a:p>
          <a:p>
            <a:r>
              <a:rPr lang="en-US" sz="2000" dirty="0">
                <a:solidFill>
                  <a:srgbClr val="404040"/>
                </a:solidFill>
                <a:effectLst/>
                <a:latin typeface="+mj-lt"/>
                <a:ea typeface="DengXian" panose="02010600030101010101" pitchFamily="2" charset="-122"/>
              </a:rPr>
              <a:t>Unless otherwise specified, homework due 11:59pm day prior to lecture day</a:t>
            </a:r>
          </a:p>
          <a:p>
            <a:r>
              <a:rPr lang="en-US" sz="2000" dirty="0">
                <a:solidFill>
                  <a:srgbClr val="404040"/>
                </a:solidFill>
                <a:latin typeface="+mj-lt"/>
                <a:ea typeface="DengXian" panose="02010600030101010101" pitchFamily="2" charset="-122"/>
              </a:rPr>
              <a:t>Most homework is the “Return”, i.e.,, give back a challenge question of similar or more difficulty. Make sure you know the answer.  </a:t>
            </a:r>
            <a:endParaRPr lang="en-US" sz="2000" dirty="0">
              <a:solidFill>
                <a:srgbClr val="404040"/>
              </a:solidFill>
              <a:effectLst/>
              <a:latin typeface="+mj-lt"/>
              <a:ea typeface="DengXian" panose="02010600030101010101" pitchFamily="2" charset="-122"/>
            </a:endParaRPr>
          </a:p>
          <a:p>
            <a:endParaRPr lang="en-US" sz="2000" b="1" dirty="0">
              <a:solidFill>
                <a:srgbClr val="00B0F0"/>
              </a:solidFill>
              <a:latin typeface="+mj-lt"/>
            </a:endParaRPr>
          </a:p>
          <a:p>
            <a:r>
              <a:rPr lang="en-US" sz="2000" b="1" dirty="0">
                <a:solidFill>
                  <a:srgbClr val="00B0F0"/>
                </a:solidFill>
                <a:latin typeface="+mj-lt"/>
              </a:rPr>
              <a:t>3 </a:t>
            </a:r>
            <a:r>
              <a:rPr lang="en-US" altLang="zh-CN" sz="2000" b="1" dirty="0">
                <a:latin typeface="+mj-lt"/>
              </a:rPr>
              <a:t>Logistics </a:t>
            </a:r>
          </a:p>
          <a:p>
            <a:r>
              <a:rPr lang="en-US" sz="2000" dirty="0">
                <a:solidFill>
                  <a:srgbClr val="404040"/>
                </a:solidFill>
                <a:latin typeface="+mj-lt"/>
                <a:ea typeface="DengXian" panose="02010600030101010101" pitchFamily="2" charset="-122"/>
              </a:rPr>
              <a:t>~ </a:t>
            </a:r>
            <a:r>
              <a:rPr lang="en-US" sz="2000" dirty="0">
                <a:solidFill>
                  <a:srgbClr val="404040"/>
                </a:solidFill>
                <a:effectLst/>
                <a:latin typeface="+mj-lt"/>
                <a:ea typeface="DengXian" panose="02010600030101010101" pitchFamily="2" charset="-122"/>
              </a:rPr>
              <a:t>Two hours of additional hours of study/work per week. </a:t>
            </a:r>
          </a:p>
          <a:p>
            <a:r>
              <a:rPr lang="en-US" sz="2000" dirty="0">
                <a:solidFill>
                  <a:srgbClr val="404040"/>
                </a:solidFill>
                <a:latin typeface="+mj-lt"/>
                <a:ea typeface="DengXian" panose="02010600030101010101" pitchFamily="2" charset="-122"/>
              </a:rPr>
              <a:t>~ QA and Tutoring Time. 5:30 to 6:30 every Tuesdays and Thursdays </a:t>
            </a:r>
          </a:p>
          <a:p>
            <a:endParaRPr lang="en-US" sz="2000" b="1" dirty="0">
              <a:solidFill>
                <a:srgbClr val="00B0F0"/>
              </a:solidFill>
              <a:latin typeface="+mj-lt"/>
            </a:endParaRPr>
          </a:p>
          <a:p>
            <a:r>
              <a:rPr lang="en-US" sz="2000" b="1" dirty="0">
                <a:solidFill>
                  <a:srgbClr val="00B0F0"/>
                </a:solidFill>
                <a:latin typeface="+mj-lt"/>
              </a:rPr>
              <a:t>4 </a:t>
            </a:r>
            <a:r>
              <a:rPr lang="en-US" altLang="zh-CN" sz="2000" b="1" dirty="0">
                <a:latin typeface="+mj-lt"/>
              </a:rPr>
              <a:t>Grading </a:t>
            </a:r>
          </a:p>
          <a:p>
            <a:r>
              <a:rPr lang="en-US" sz="2000" dirty="0">
                <a:solidFill>
                  <a:srgbClr val="404040"/>
                </a:solidFill>
                <a:latin typeface="+mj-lt"/>
                <a:ea typeface="DengXian" panose="02010600030101010101" pitchFamily="2" charset="-122"/>
              </a:rPr>
              <a:t>~ 5 point scale. </a:t>
            </a:r>
            <a:r>
              <a:rPr lang="en-US" sz="2000" dirty="0">
                <a:solidFill>
                  <a:srgbClr val="404040"/>
                </a:solidFill>
                <a:effectLst/>
                <a:latin typeface="+mj-lt"/>
                <a:ea typeface="DengXian" panose="02010600030101010101" pitchFamily="2" charset="-122"/>
              </a:rPr>
              <a:t>Grade is based on the number of Returned Challenging Questions</a:t>
            </a:r>
            <a:endParaRPr lang="en-US" dirty="0"/>
          </a:p>
        </p:txBody>
      </p:sp>
      <p:sp>
        <p:nvSpPr>
          <p:cNvPr id="18" name="TextBox 17">
            <a:extLst>
              <a:ext uri="{FF2B5EF4-FFF2-40B4-BE49-F238E27FC236}">
                <a16:creationId xmlns:a16="http://schemas.microsoft.com/office/drawing/2014/main" id="{4B1CC00E-392D-D556-EE4B-DCDAAB343809}"/>
              </a:ext>
            </a:extLst>
          </p:cNvPr>
          <p:cNvSpPr txBox="1"/>
          <p:nvPr/>
        </p:nvSpPr>
        <p:spPr>
          <a:xfrm>
            <a:off x="9553903" y="0"/>
            <a:ext cx="2638097" cy="369332"/>
          </a:xfrm>
          <a:prstGeom prst="rect">
            <a:avLst/>
          </a:prstGeom>
          <a:noFill/>
        </p:spPr>
        <p:txBody>
          <a:bodyPr wrap="square" rtlCol="0">
            <a:spAutoFit/>
          </a:bodyPr>
          <a:lstStyle/>
          <a:p>
            <a:r>
              <a:rPr lang="en-US" altLang="zh-CN" b="1" dirty="0">
                <a:solidFill>
                  <a:schemeClr val="bg1">
                    <a:lumMod val="85000"/>
                  </a:schemeClr>
                </a:solidFill>
              </a:rPr>
              <a:t>Stem Pro Academy, 2022</a:t>
            </a:r>
            <a:endParaRPr lang="en-US" b="1" dirty="0">
              <a:solidFill>
                <a:schemeClr val="bg1">
                  <a:lumMod val="85000"/>
                </a:schemeClr>
              </a:solidFill>
            </a:endParaRPr>
          </a:p>
        </p:txBody>
      </p:sp>
    </p:spTree>
    <p:extLst>
      <p:ext uri="{BB962C8B-B14F-4D97-AF65-F5344CB8AC3E}">
        <p14:creationId xmlns:p14="http://schemas.microsoft.com/office/powerpoint/2010/main" val="3364768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0EDC0C-D960-9E55-7897-87954FDAF638}"/>
              </a:ext>
            </a:extLst>
          </p:cNvPr>
          <p:cNvSpPr>
            <a:spLocks noGrp="1"/>
          </p:cNvSpPr>
          <p:nvPr>
            <p:ph type="ctrTitle"/>
          </p:nvPr>
        </p:nvSpPr>
        <p:spPr>
          <a:xfrm>
            <a:off x="1524000" y="1122363"/>
            <a:ext cx="9144000" cy="2776975"/>
          </a:xfrm>
        </p:spPr>
        <p:txBody>
          <a:bodyPr>
            <a:normAutofit/>
          </a:bodyPr>
          <a:lstStyle/>
          <a:p>
            <a:r>
              <a:rPr lang="en-US" altLang="zh-CN" dirty="0"/>
              <a:t>Any Questions?</a:t>
            </a:r>
            <a:br>
              <a:rPr lang="en-US" dirty="0"/>
            </a:br>
            <a:r>
              <a:rPr lang="en-US" dirty="0"/>
              <a:t> </a:t>
            </a:r>
          </a:p>
        </p:txBody>
      </p:sp>
      <p:sp>
        <p:nvSpPr>
          <p:cNvPr id="5" name="TextBox 4">
            <a:extLst>
              <a:ext uri="{FF2B5EF4-FFF2-40B4-BE49-F238E27FC236}">
                <a16:creationId xmlns:a16="http://schemas.microsoft.com/office/drawing/2014/main" id="{1BF15609-58CE-3080-96AB-EDE79F2CFB79}"/>
              </a:ext>
            </a:extLst>
          </p:cNvPr>
          <p:cNvSpPr txBox="1"/>
          <p:nvPr/>
        </p:nvSpPr>
        <p:spPr>
          <a:xfrm>
            <a:off x="9553903" y="0"/>
            <a:ext cx="2638097" cy="369332"/>
          </a:xfrm>
          <a:prstGeom prst="rect">
            <a:avLst/>
          </a:prstGeom>
          <a:noFill/>
        </p:spPr>
        <p:txBody>
          <a:bodyPr wrap="square" rtlCol="0">
            <a:spAutoFit/>
          </a:bodyPr>
          <a:lstStyle/>
          <a:p>
            <a:r>
              <a:rPr lang="en-US" altLang="zh-CN" b="1" dirty="0">
                <a:solidFill>
                  <a:schemeClr val="bg1">
                    <a:lumMod val="85000"/>
                  </a:schemeClr>
                </a:solidFill>
              </a:rPr>
              <a:t>Stem Pro Academy, 2022</a:t>
            </a:r>
            <a:endParaRPr lang="en-US" b="1" dirty="0">
              <a:solidFill>
                <a:schemeClr val="bg1">
                  <a:lumMod val="85000"/>
                </a:schemeClr>
              </a:solidFill>
            </a:endParaRPr>
          </a:p>
        </p:txBody>
      </p:sp>
    </p:spTree>
    <p:extLst>
      <p:ext uri="{BB962C8B-B14F-4D97-AF65-F5344CB8AC3E}">
        <p14:creationId xmlns:p14="http://schemas.microsoft.com/office/powerpoint/2010/main" val="34037683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393</TotalTime>
  <Words>610</Words>
  <Application>Microsoft Office PowerPoint</Application>
  <PresentationFormat>Widescreen</PresentationFormat>
  <Paragraphs>137</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Roboto</vt:lpstr>
      <vt:lpstr>Office Theme</vt:lpstr>
      <vt:lpstr>Welcome!  Thank You for Choosing Us for Your STEM Passion!  Roy Ma stemproaca@gmail.com admin@stempro.org  425-409-1805</vt:lpstr>
      <vt:lpstr>   </vt:lpstr>
      <vt:lpstr>PowerPoint Presentation</vt:lpstr>
      <vt:lpstr>Note: Instead of getting env ready from the beginning, we will learn about development (i.e., Anaconda, git and repository) along the way. And most of them will be done during office hours. </vt:lpstr>
      <vt:lpstr>What we are going to cover in the next 10 Sessions.   </vt:lpstr>
      <vt:lpstr>Dim1 – Programming and Math</vt:lpstr>
      <vt:lpstr>PowerPoint Presentation</vt:lpstr>
      <vt:lpstr>PowerPoint Presentation</vt:lpstr>
      <vt:lpstr>Research My Dream School!</vt:lpstr>
      <vt:lpstr>Stock Market Fun!</vt:lpstr>
      <vt:lpstr>Project Conventions and Principles</vt:lpstr>
      <vt:lpstr>Any Questions?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and Thank You for Choosing Us for This Journey</dc:title>
  <dc:creator>Stempro Academy</dc:creator>
  <cp:lastModifiedBy>Stempro Academy</cp:lastModifiedBy>
  <cp:revision>18</cp:revision>
  <dcterms:created xsi:type="dcterms:W3CDTF">2022-06-16T15:05:39Z</dcterms:created>
  <dcterms:modified xsi:type="dcterms:W3CDTF">2022-06-29T20:24:38Z</dcterms:modified>
</cp:coreProperties>
</file>